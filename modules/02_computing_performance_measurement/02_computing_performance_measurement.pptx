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4"/>
    <p:restoredTop sz="94711"/>
  </p:normalViewPr>
  <p:slideViewPr>
    <p:cSldViewPr snapToGrid="0">
      <p:cViewPr varScale="1">
        <p:scale>
          <a:sx n="189" d="100"/>
          <a:sy n="189" d="100"/>
        </p:scale>
        <p:origin x="1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B4E4-1E41-AC5A-7A74-6DB20E277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56B45-195D-1674-E215-EF9788295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3BDED-3B9A-8759-1BDA-2020155A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B330E-BAD9-953A-1D1E-62378B9C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C5628-F35D-919A-A2F2-931F92F6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02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5CF8-003E-4C82-3D38-FA5B31385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FB505-AFD7-20F0-8CDF-DFDCC497A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23DDC-1773-D1A3-13D1-09CEC715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F2447-AF70-3121-8154-B90C8E08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89913-CD4A-1F9F-089E-0E5CB21D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4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C153-F2C9-0234-46C6-519C7E61D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B9CE5-BA62-7010-1195-D37B2CB64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E1968-26E1-03AD-DE0F-834EE3B9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7DE6A-DD15-D478-0FEB-06D76D31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0493C-4F30-6455-E515-C1122587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4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B462-9B0C-AB45-4B8F-F613D4F43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EC59D-E4A6-9108-FF54-CD976E2F1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FB644-94A1-2AF5-CB72-748FB0420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A4B13-DEA3-A197-A81B-7B907AA3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7D75A-0CA5-2240-703E-88382301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F4B41-51D8-E6C3-823D-E389E26A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5927-B123-2B87-455C-E0E99450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EED30-42A9-83FC-15CE-98D895785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214E6-A62B-3A2B-95E9-533BF895E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EA478-8741-B1BF-4C60-87991CD0B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9670C0-1D01-ECA1-B3F6-9AC8741B61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ED154A-E931-B849-7122-A065D6C8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5686D-8B01-1F70-5719-D4FEC87A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D98FC-2570-057E-0C95-118A6DFC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E74E-C264-98CB-3C29-1F978BFE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0F8BB-8A39-08B0-944B-70A990CB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C3AB8-8D3D-9FD8-85DE-278000D43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0ADB9-AC87-3CD1-3DF6-13AFB592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9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CC2690-0DA5-1D6F-9315-FC826332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60122-58C4-4738-41BD-283C4429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F6EC7-3A98-38A7-9D68-ABF709C88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4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1902-959A-06B0-70C0-4EE2D91CC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7CDC6-E4BE-02EB-03B9-9EC3CF696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F030F-6755-3109-0887-E6B05AA88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8A493-AFB6-A980-4DFF-FC6B60D2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FAD41-C0C0-3E67-8A57-186A5CA6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94BB1-34BB-E06C-EEDB-619C740C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1236-7901-8DE1-B192-385C8231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C6318-BD5A-EDB4-5BC9-F9A727DCD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E3E2A-3705-E96A-D8EE-B61BA320E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BE538-6C8D-5DA8-8E7D-FAFBF0172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4B0AB-71CA-91EA-66FA-09242C56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BEEA3-86E2-0165-7167-1B87EB0C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8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4614-06F5-CCAA-1DD4-CCC70107B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36FF8-35B6-8D9B-4C1F-3B2225253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A177E-64F3-DF80-F8E5-169828D89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8BD-872B-EF9B-912E-CCCF4F6B4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6A233-0344-1783-8C22-D38994C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0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D06DF-9772-895E-5BD4-E629AEB8B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5E1CD-AE68-A9AB-E296-864913C0C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A395C-B405-3196-7C56-89869E66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346AE-513F-8434-F195-21B1727C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BF1FF-5A13-1641-92F3-42AD9C3D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3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8144AB-8A80-4F7F-09FB-03F7FB11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32A2-65DB-8B85-5B3D-A463B522D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17687-4030-3F8C-E893-EA032857F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6F665-19CC-B635-1B84-2C720D967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88346-61F5-1F7C-3FA0-38B084C08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1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409.1331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cg-benchmark/hpcg" TargetMode="External"/><Relationship Id="rId2" Type="http://schemas.openxmlformats.org/officeDocument/2006/relationships/hyperlink" Target="https://www.netlib.org/benchmark/hpl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911.02549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raph500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E21785-62D8-430F-9521-90166EF7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D7CF8A0-D3E4-4A16-87D3-1D973AC6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3296" y="697832"/>
            <a:ext cx="8189484" cy="5541981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9A26B-3950-348D-DAFF-135E7DCBE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98925"/>
            <a:ext cx="5541054" cy="2149412"/>
          </a:xfrm>
        </p:spPr>
        <p:txBody>
          <a:bodyPr>
            <a:normAutofit/>
          </a:bodyPr>
          <a:lstStyle/>
          <a:p>
            <a:r>
              <a:rPr lang="en-US" sz="4400"/>
              <a:t>Computer Performance Measurement and 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CED13-DFAF-3DC0-EB8B-9F98604FE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4300833"/>
            <a:ext cx="4431162" cy="1191873"/>
          </a:xfrm>
        </p:spPr>
        <p:txBody>
          <a:bodyPr>
            <a:normAutofit/>
          </a:bodyPr>
          <a:lstStyle/>
          <a:p>
            <a:r>
              <a:rPr lang="en-US" dirty="0"/>
              <a:t>Max Hawkins</a:t>
            </a:r>
          </a:p>
        </p:txBody>
      </p:sp>
    </p:spTree>
    <p:extLst>
      <p:ext uri="{BB962C8B-B14F-4D97-AF65-F5344CB8AC3E}">
        <p14:creationId xmlns:p14="http://schemas.microsoft.com/office/powerpoint/2010/main" val="37172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FED6-AAC6-E649-CFCE-0C3262CE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performance?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654A2-6676-E3A6-D70F-AF1BBF233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644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Making broad generalizations:</a:t>
            </a:r>
          </a:p>
          <a:p>
            <a:r>
              <a:rPr lang="en-US" dirty="0"/>
              <a:t>Hardware architects: Sub-system performance</a:t>
            </a:r>
          </a:p>
          <a:p>
            <a:r>
              <a:rPr lang="en-US" dirty="0"/>
              <a:t>Hardware vendors: Application-agnostic system performance</a:t>
            </a:r>
          </a:p>
          <a:p>
            <a:pPr lvl="1"/>
            <a:r>
              <a:rPr lang="en-US" dirty="0"/>
              <a:t>Memory bandwidth, operation throughput,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If selling specialized systems, can focus on applications (e.g. AI)</a:t>
            </a:r>
          </a:p>
          <a:p>
            <a:r>
              <a:rPr lang="en-US" dirty="0"/>
              <a:t>Application developers: Application performance</a:t>
            </a:r>
          </a:p>
          <a:p>
            <a:pPr lvl="1"/>
            <a:r>
              <a:rPr lang="en-US" dirty="0"/>
              <a:t>Images processed per second, output tokens per second, time to first token</a:t>
            </a:r>
          </a:p>
        </p:txBody>
      </p:sp>
    </p:spTree>
    <p:extLst>
      <p:ext uri="{BB962C8B-B14F-4D97-AF65-F5344CB8AC3E}">
        <p14:creationId xmlns:p14="http://schemas.microsoft.com/office/powerpoint/2010/main" val="2310773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C95E-63AD-9721-3D45-C5E829BC0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Operations per Second (flop/s)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AF776-7E83-B636-C3A3-6EEEFCD06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De-facto standard computing performance metric</a:t>
            </a:r>
          </a:p>
          <a:p>
            <a:r>
              <a:rPr lang="en-US" dirty="0"/>
              <a:t>Measures the operation throughput</a:t>
            </a:r>
          </a:p>
          <a:p>
            <a:pPr lvl="1"/>
            <a:r>
              <a:rPr lang="en-US" dirty="0"/>
              <a:t>Has integer (</a:t>
            </a:r>
            <a:r>
              <a:rPr lang="en-US" dirty="0" err="1"/>
              <a:t>iop</a:t>
            </a:r>
            <a:r>
              <a:rPr lang="en-US" dirty="0"/>
              <a:t>/s), posit (pop/s), and generic (op/s) version</a:t>
            </a:r>
          </a:p>
          <a:p>
            <a:pPr lvl="1"/>
            <a:r>
              <a:rPr lang="en-US" dirty="0"/>
              <a:t>Alternative: Instructions per second</a:t>
            </a:r>
          </a:p>
          <a:p>
            <a:endParaRPr lang="en-US" dirty="0"/>
          </a:p>
          <a:p>
            <a:r>
              <a:rPr lang="en-US" dirty="0"/>
              <a:t>Unit: a quantity chosen as a standard in terms of which other quantities may be expressed</a:t>
            </a:r>
          </a:p>
          <a:p>
            <a:pPr lvl="1"/>
            <a:r>
              <a:rPr lang="en-US" dirty="0"/>
              <a:t>E.g. flop, operation, instruction, meter, second, flop/s, bit/s,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62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87BE7-1950-9C0D-EC9F-010F6D2E5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Exascale vs Exaflop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A5CDC-D6A5-1320-3CFC-6BBAB2A9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Frontier is an exaflop computer</a:t>
            </a:r>
          </a:p>
          <a:p>
            <a:pPr lvl="1"/>
            <a:r>
              <a:rPr lang="en-US" dirty="0"/>
              <a:t>Can perform &gt; 1*10^18 flops per second (FP64 with HPL)</a:t>
            </a:r>
          </a:p>
          <a:p>
            <a:r>
              <a:rPr lang="en-US" dirty="0"/>
              <a:t>Is Frontier an exascale computer?</a:t>
            </a:r>
          </a:p>
          <a:p>
            <a:pPr lvl="1"/>
            <a:r>
              <a:rPr lang="en-US" dirty="0"/>
              <a:t>Exascale = Exaflop?</a:t>
            </a:r>
          </a:p>
          <a:p>
            <a:r>
              <a:rPr lang="en-US" dirty="0"/>
              <a:t>Memory?</a:t>
            </a:r>
          </a:p>
          <a:p>
            <a:r>
              <a:rPr lang="en-US" dirty="0"/>
              <a:t>Network?</a:t>
            </a:r>
          </a:p>
        </p:txBody>
      </p:sp>
      <p:pic>
        <p:nvPicPr>
          <p:cNvPr id="5" name="Picture 4" descr="A graph of a graph showing the number of data&#10;&#10;AI-generated content may be incorrect.">
            <a:extLst>
              <a:ext uri="{FF2B5EF4-FFF2-40B4-BE49-F238E27FC236}">
                <a16:creationId xmlns:a16="http://schemas.microsoft.com/office/drawing/2014/main" id="{2BEC3365-92FC-7085-50B4-DC8A773FE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3365500"/>
            <a:ext cx="6921500" cy="3492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A6C191-0EF1-645C-DFDD-65F9683BE2B2}"/>
              </a:ext>
            </a:extLst>
          </p:cNvPr>
          <p:cNvSpPr txBox="1"/>
          <p:nvPr/>
        </p:nvSpPr>
        <p:spPr>
          <a:xfrm>
            <a:off x="0" y="6492875"/>
            <a:ext cx="4460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https://</a:t>
            </a:r>
            <a:r>
              <a:rPr lang="en-US"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arxiv.org</a:t>
            </a:r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/pdf/2403.14123</a:t>
            </a:r>
          </a:p>
        </p:txBody>
      </p:sp>
    </p:spTree>
    <p:extLst>
      <p:ext uri="{BB962C8B-B14F-4D97-AF65-F5344CB8AC3E}">
        <p14:creationId xmlns:p14="http://schemas.microsoft.com/office/powerpoint/2010/main" val="2411671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706D6-E77C-017A-7046-90D7D767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even is a flop?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69AB1-D636-7071-BDB3-A463D248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Historically, IEEE-754 FP64 multiplies and adds</a:t>
            </a:r>
          </a:p>
          <a:p>
            <a:pPr lvl="1"/>
            <a:r>
              <a:rPr lang="en-US" dirty="0"/>
              <a:t>A narrow but concrete definition…with decreasing prevalence</a:t>
            </a:r>
          </a:p>
          <a:p>
            <a:r>
              <a:rPr lang="en-US" dirty="0"/>
              <a:t>Low-precision data types proliferated</a:t>
            </a:r>
          </a:p>
          <a:p>
            <a:pPr lvl="1"/>
            <a:r>
              <a:rPr lang="en-US" dirty="0"/>
              <a:t>FP32, 24, 16, 8, 6, 4, 2, 1, …</a:t>
            </a:r>
          </a:p>
          <a:p>
            <a:pPr lvl="1"/>
            <a:r>
              <a:rPr lang="en-US" dirty="0"/>
              <a:t>Quantized AI models</a:t>
            </a:r>
          </a:p>
          <a:p>
            <a:r>
              <a:rPr lang="en-US" dirty="0"/>
              <a:t>Operations</a:t>
            </a:r>
          </a:p>
          <a:p>
            <a:pPr lvl="1"/>
            <a:r>
              <a:rPr lang="en-US" dirty="0"/>
              <a:t>Just multiplies and adds? Divides? </a:t>
            </a:r>
          </a:p>
          <a:p>
            <a:pPr lvl="1"/>
            <a:r>
              <a:rPr lang="en-US" dirty="0"/>
              <a:t>Systolic array (tensor core/TPU) depth effect</a:t>
            </a:r>
          </a:p>
          <a:p>
            <a:r>
              <a:rPr lang="en-US" dirty="0"/>
              <a:t>Sparsity</a:t>
            </a:r>
          </a:p>
          <a:p>
            <a:r>
              <a:rPr lang="en-US" dirty="0"/>
              <a:t>Redundant encodings</a:t>
            </a:r>
          </a:p>
          <a:p>
            <a:r>
              <a:rPr lang="en-US" dirty="0"/>
              <a:t>Emulation</a:t>
            </a:r>
          </a:p>
          <a:p>
            <a:pPr lvl="1"/>
            <a:r>
              <a:rPr lang="en-US" dirty="0"/>
              <a:t>Ozaki scheme – performing FP64* arithmetic with Int8 operations</a:t>
            </a:r>
          </a:p>
        </p:txBody>
      </p:sp>
    </p:spTree>
    <p:extLst>
      <p:ext uri="{BB962C8B-B14F-4D97-AF65-F5344CB8AC3E}">
        <p14:creationId xmlns:p14="http://schemas.microsoft.com/office/powerpoint/2010/main" val="367817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DF33-029F-A8F1-363A-7CBE3802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Ozaki Scheme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A91747-5AAA-1B99-BF02-45F2D061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48" y="1652346"/>
            <a:ext cx="5263383" cy="469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rature Review] Performance Enhancement of the Ozaki Scheme on Integer  Matrix Multiplication Unit">
            <a:extLst>
              <a:ext uri="{FF2B5EF4-FFF2-40B4-BE49-F238E27FC236}">
                <a16:creationId xmlns:a16="http://schemas.microsoft.com/office/drawing/2014/main" id="{3CEEBB62-1A34-0B1E-F67E-55B4F0787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461" y="2215042"/>
            <a:ext cx="6334539" cy="265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63AD41-09E6-5A10-7396-C5526C6526AD}"/>
              </a:ext>
            </a:extLst>
          </p:cNvPr>
          <p:cNvSpPr txBox="1"/>
          <p:nvPr/>
        </p:nvSpPr>
        <p:spPr>
          <a:xfrm>
            <a:off x="7009948" y="6488668"/>
            <a:ext cx="44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https://arxiv.org/abs/2409.13313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686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2D754-BEA4-1DE8-8781-E27B2097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B335-972B-F653-B554-19A50EA79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HPL – Dense linear system solver in FP64</a:t>
            </a:r>
          </a:p>
          <a:p>
            <a:pPr lvl="1"/>
            <a:r>
              <a:rPr lang="en-US" dirty="0"/>
              <a:t>Favors dense </a:t>
            </a:r>
            <a:r>
              <a:rPr lang="en-US" dirty="0" err="1"/>
              <a:t>matmuls</a:t>
            </a:r>
            <a:r>
              <a:rPr lang="en-US" dirty="0"/>
              <a:t> – tensor cores/TPUs/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https://www.netlib.org/benchmark/hpl/</a:t>
            </a:r>
            <a:endParaRPr lang="en-US" dirty="0"/>
          </a:p>
          <a:p>
            <a:r>
              <a:rPr lang="en-US" dirty="0"/>
              <a:t>HPCG – Sparse iterative solver in FP64</a:t>
            </a:r>
          </a:p>
          <a:p>
            <a:pPr lvl="1"/>
            <a:r>
              <a:rPr lang="en-US" dirty="0">
                <a:hlinkClick r:id="rId3"/>
              </a:rPr>
              <a:t>https://github.com/hpcg-benchmark/hpcg</a:t>
            </a:r>
            <a:endParaRPr lang="en-US" dirty="0"/>
          </a:p>
          <a:p>
            <a:r>
              <a:rPr lang="en-US" dirty="0" err="1"/>
              <a:t>MLPerf</a:t>
            </a:r>
            <a:r>
              <a:rPr lang="en-US" dirty="0"/>
              <a:t> – Machine-learning inference</a:t>
            </a:r>
          </a:p>
          <a:p>
            <a:pPr lvl="1"/>
            <a:r>
              <a:rPr lang="en-US" dirty="0">
                <a:hlinkClick r:id="rId4"/>
              </a:rPr>
              <a:t>https://arxiv.org/pdf/1911.02549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265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FC9E-1082-E31F-9B5B-D71D9C24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(and bragging rights)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937A-4DE2-4104-2762-43A71671D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Top500</a:t>
            </a:r>
          </a:p>
          <a:p>
            <a:pPr lvl="1"/>
            <a:r>
              <a:rPr lang="en-US" dirty="0"/>
              <a:t>Uses </a:t>
            </a:r>
            <a:r>
              <a:rPr lang="en-US" dirty="0" err="1"/>
              <a:t>HPLinpack</a:t>
            </a:r>
            <a:endParaRPr lang="en-US" dirty="0"/>
          </a:p>
          <a:p>
            <a:r>
              <a:rPr lang="en-US" dirty="0"/>
              <a:t>Green500</a:t>
            </a:r>
          </a:p>
          <a:p>
            <a:pPr lvl="1"/>
            <a:r>
              <a:rPr lang="en-US" dirty="0"/>
              <a:t>Uses Top500 results normalized by power draw</a:t>
            </a:r>
          </a:p>
          <a:p>
            <a:r>
              <a:rPr lang="en-US" dirty="0"/>
              <a:t>Graph500</a:t>
            </a:r>
          </a:p>
          <a:p>
            <a:pPr lvl="1"/>
            <a:r>
              <a:rPr lang="en-US" dirty="0">
                <a:hlinkClick r:id="rId2"/>
              </a:rPr>
              <a:t>https://graph500.org</a:t>
            </a:r>
            <a:endParaRPr lang="en-US" dirty="0"/>
          </a:p>
          <a:p>
            <a:pPr lvl="1"/>
            <a:r>
              <a:rPr lang="en-US" dirty="0"/>
              <a:t>“Not all workloads are dense </a:t>
            </a:r>
            <a:r>
              <a:rPr lang="en-US" dirty="0" err="1"/>
              <a:t>matmul</a:t>
            </a:r>
            <a:r>
              <a:rPr lang="en-US" dirty="0"/>
              <a:t>” – Someone (probably)</a:t>
            </a:r>
          </a:p>
        </p:txBody>
      </p:sp>
    </p:spTree>
    <p:extLst>
      <p:ext uri="{BB962C8B-B14F-4D97-AF65-F5344CB8AC3E}">
        <p14:creationId xmlns:p14="http://schemas.microsoft.com/office/powerpoint/2010/main" val="2382426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A8BA-42C5-1772-132D-569CF556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Top500					Green 500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20D4BC-E689-81EA-91FC-E52B4FC0F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6016"/>
            <a:ext cx="5076561" cy="4351338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E39E81-6D6A-1BDE-2054-88D52F12C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214" y="1836016"/>
            <a:ext cx="5076561" cy="454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88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82C9-5A21-95E9-0772-4A9EC8FF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LLM Tokens as Commodities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B392E-084C-197C-FB30-67953960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920594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Financial value: $ per token</a:t>
            </a:r>
          </a:p>
          <a:p>
            <a:r>
              <a:rPr lang="en-US" sz="2000" dirty="0"/>
              <a:t>Throughput: tokens per second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 $ per second</a:t>
            </a:r>
          </a:p>
          <a:p>
            <a:r>
              <a:rPr lang="en-US" sz="2000" dirty="0">
                <a:sym typeface="Wingdings" pitchFamily="2" charset="2"/>
              </a:rPr>
              <a:t>AI factories: Converting electric power to money</a:t>
            </a:r>
          </a:p>
          <a:p>
            <a:pPr lvl="1"/>
            <a:r>
              <a:rPr lang="en-US" sz="2000" dirty="0">
                <a:sym typeface="Wingdings" pitchFamily="2" charset="2"/>
              </a:rPr>
              <a:t>“Computational alchemy”</a:t>
            </a:r>
            <a:endParaRPr lang="en-US" sz="2000" dirty="0"/>
          </a:p>
        </p:txBody>
      </p:sp>
      <p:pic>
        <p:nvPicPr>
          <p:cNvPr id="5" name="Picture 4" descr="A person standing in front of a large screen&#10;&#10;AI-generated content may be incorrect.">
            <a:extLst>
              <a:ext uri="{FF2B5EF4-FFF2-40B4-BE49-F238E27FC236}">
                <a16:creationId xmlns:a16="http://schemas.microsoft.com/office/drawing/2014/main" id="{241A23A4-D7C2-F2F6-C88D-E05C3A478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869930"/>
            <a:ext cx="6389346" cy="512744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1459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person standing in front of a screen&#10;&#10;AI-generated content may be incorrect.">
            <a:extLst>
              <a:ext uri="{FF2B5EF4-FFF2-40B4-BE49-F238E27FC236}">
                <a16:creationId xmlns:a16="http://schemas.microsoft.com/office/drawing/2014/main" id="{0823F020-958A-8481-D084-713B9C5CA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3660" y="643468"/>
            <a:ext cx="801592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06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04DA-7813-759F-A2C5-6E010F71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Back to bits research project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FABCE279-C0AA-6C9D-68BF-84AD7DF34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29110"/>
            <a:ext cx="10515600" cy="2944368"/>
          </a:xfrm>
        </p:spPr>
      </p:pic>
    </p:spTree>
    <p:extLst>
      <p:ext uri="{BB962C8B-B14F-4D97-AF65-F5344CB8AC3E}">
        <p14:creationId xmlns:p14="http://schemas.microsoft.com/office/powerpoint/2010/main" val="2010024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4395</TotalTime>
  <Words>430</Words>
  <Application>Microsoft Macintosh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Computer Performance Measurement and Benchmarking</vt:lpstr>
      <vt:lpstr>What is performance?</vt:lpstr>
      <vt:lpstr>Floating-point Operations per Second (flop/s)</vt:lpstr>
      <vt:lpstr>Exascale vs Exaflop</vt:lpstr>
      <vt:lpstr>What even is a flop?</vt:lpstr>
      <vt:lpstr>Ozaki Scheme</vt:lpstr>
      <vt:lpstr>Benchmarks</vt:lpstr>
      <vt:lpstr>Lists (and bragging rights)</vt:lpstr>
      <vt:lpstr>Top500     Green 500</vt:lpstr>
      <vt:lpstr>LLM Tokens as Commodities</vt:lpstr>
      <vt:lpstr>PowerPoint Presentation</vt:lpstr>
      <vt:lpstr>Aside: Back to bits research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Hawkins</dc:creator>
  <cp:lastModifiedBy>Max Hawkins</cp:lastModifiedBy>
  <cp:revision>14</cp:revision>
  <dcterms:created xsi:type="dcterms:W3CDTF">2025-08-26T16:36:50Z</dcterms:created>
  <dcterms:modified xsi:type="dcterms:W3CDTF">2025-08-29T17:52:11Z</dcterms:modified>
</cp:coreProperties>
</file>