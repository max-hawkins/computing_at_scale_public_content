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1" r:id="rId8"/>
    <p:sldId id="262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974"/>
    <p:restoredTop sz="94711"/>
  </p:normalViewPr>
  <p:slideViewPr>
    <p:cSldViewPr snapToGrid="0">
      <p:cViewPr varScale="1">
        <p:scale>
          <a:sx n="189" d="100"/>
          <a:sy n="189" d="100"/>
        </p:scale>
        <p:origin x="118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EB4E4-1E41-AC5A-7A74-6DB20E2776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E56B45-195D-1674-E215-EF97882951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D3BDED-3B9A-8759-1BDA-2020155AD3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F6D45-0008-364C-AD59-BF82FFE9F181}" type="datetimeFigureOut">
              <a:rPr lang="en-US" smtClean="0"/>
              <a:t>8/26/25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DB330E-BAD9-953A-1D1E-62378B9C4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DC5628-F35D-919A-A2F2-931F92F60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B9463-7E5B-C345-B811-2824DD58DC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6025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F5CF8-003E-4C82-3D38-FA5B31385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0FB505-AFD7-20F0-8CDF-DFDCC497AD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823DDC-1773-D1A3-13D1-09CEC71585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F6D45-0008-364C-AD59-BF82FFE9F181}" type="datetimeFigureOut">
              <a:rPr lang="en-US" smtClean="0"/>
              <a:t>8/26/25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FF2447-AF70-3121-8154-B90C8E08C5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E89913-CD4A-1F9F-089E-0E5CB21D0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B9463-7E5B-C345-B811-2824DD58DC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541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AC153-F2C9-0234-46C6-519C7E61DC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6B9CE5-BA62-7010-1195-D37B2CB646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FE1968-26E1-03AD-DE0F-834EE3B95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F6D45-0008-364C-AD59-BF82FFE9F181}" type="datetimeFigureOut">
              <a:rPr lang="en-US" smtClean="0"/>
              <a:t>8/26/25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87DE6A-DD15-D478-0FEB-06D76D31E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90493C-4F30-6455-E515-C11225872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B9463-7E5B-C345-B811-2824DD58DC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5438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AB462-9B0C-AB45-4B8F-F613D4F43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6EC59D-E4A6-9108-FF54-CD976E2F19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7FB644-94A1-2AF5-CB72-748FB0420E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6A4B13-DEA3-A197-A81B-7B907AA34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F6D45-0008-364C-AD59-BF82FFE9F181}" type="datetimeFigureOut">
              <a:rPr lang="en-US" smtClean="0"/>
              <a:t>8/26/25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27D75A-0CA5-2240-703E-883823018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EF4B41-51D8-E6C3-823D-E389E26AA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B9463-7E5B-C345-B811-2824DD58DC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859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15927-B123-2B87-455C-E0E994509D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3EED30-42A9-83FC-15CE-98D8957850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8214E6-A62B-3A2B-95E9-533BF895E5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5EA478-8741-B1BF-4C60-87991CD0B6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9670C0-1D01-ECA1-B3F6-9AC8741B61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ED154A-E931-B849-7122-A065D6C8CA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F6D45-0008-364C-AD59-BF82FFE9F181}" type="datetimeFigureOut">
              <a:rPr lang="en-US" smtClean="0"/>
              <a:t>8/26/25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15686D-8B01-1F70-5719-D4FEC87AB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0D98FC-2570-057E-0C95-118A6DFCD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B9463-7E5B-C345-B811-2824DD58DC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118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5E74E-C264-98CB-3C29-1F978BFEF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C0F8BB-8A39-08B0-944B-70A990CB1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F6D45-0008-364C-AD59-BF82FFE9F181}" type="datetimeFigureOut">
              <a:rPr lang="en-US" smtClean="0"/>
              <a:t>8/26/25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3C3AB8-8D3D-9FD8-85DE-278000D43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70ADB9-AC87-3CD1-3DF6-13AFB5929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B9463-7E5B-C345-B811-2824DD58DC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4961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CC2690-0DA5-1D6F-9315-FC8263321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F6D45-0008-364C-AD59-BF82FFE9F181}" type="datetimeFigureOut">
              <a:rPr lang="en-US" smtClean="0"/>
              <a:t>8/26/25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E60122-58C4-4738-41BD-283C44291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5F6EC7-3A98-38A7-9D68-ABF709C88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B9463-7E5B-C345-B811-2824DD58DC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0446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71902-959A-06B0-70C0-4EE2D91CC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E7CDC6-E4BE-02EB-03B9-9EC3CF6962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0F030F-6755-3109-0887-E6B05AA887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D8A493-AFB6-A980-4DFF-FC6B60D2A3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F6D45-0008-364C-AD59-BF82FFE9F181}" type="datetimeFigureOut">
              <a:rPr lang="en-US" smtClean="0"/>
              <a:t>8/26/25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FFAD41-C0C0-3E67-8A57-186A5CA6A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194BB1-34BB-E06C-EEDB-619C740C6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B9463-7E5B-C345-B811-2824DD58DC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488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D1236-7901-8DE1-B192-385C82317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73C6318-BD5A-EDB4-5BC9-F9A727DCDC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7E3E2A-3705-E96A-D8EE-B61BA320E0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4BE538-6C8D-5DA8-8E7D-FAFBF0172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F6D45-0008-364C-AD59-BF82FFE9F181}" type="datetimeFigureOut">
              <a:rPr lang="en-US" smtClean="0"/>
              <a:t>8/26/25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F4B0AB-71CA-91EA-66FA-09242C56B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0BEEA3-86E2-0165-7167-1B87EB0C9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B9463-7E5B-C345-B811-2824DD58DC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7809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94614-06F5-CCAA-1DD4-CCC70107B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C36FF8-35B6-8D9B-4C1F-3B22252532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CA177E-64F3-DF80-F8E5-169828D89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F6D45-0008-364C-AD59-BF82FFE9F181}" type="datetimeFigureOut">
              <a:rPr lang="en-US" smtClean="0"/>
              <a:t>8/26/25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4C08BD-872B-EF9B-912E-CCCF4F6B4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C6A233-0344-1783-8C22-D38994C7F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B9463-7E5B-C345-B811-2824DD58DC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7053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FED06DF-9772-895E-5BD4-E629AEB8BF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B5E1CD-AE68-A9AB-E296-864913C0C3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CA395C-B405-3196-7C56-89869E667B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F6D45-0008-364C-AD59-BF82FFE9F181}" type="datetimeFigureOut">
              <a:rPr lang="en-US" smtClean="0"/>
              <a:t>8/26/25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9346AE-513F-8434-F195-21B1727CA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4BF1FF-5A13-1641-92F3-42AD9C3D6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B9463-7E5B-C345-B811-2824DD58DC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5368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8144AB-8A80-4F7F-09FB-03F7FB11F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5B32A2-65DB-8B85-5B3D-A463B522DD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317687-4030-3F8C-E893-EA032857F8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4F6D45-0008-364C-AD59-BF82FFE9F181}" type="datetimeFigureOut">
              <a:rPr lang="en-US" smtClean="0"/>
              <a:t>8/26/25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76F665-19CC-B635-1B84-2C720D967D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788346-61F5-1F7C-3FA0-38B084C087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3B9463-7E5B-C345-B811-2824DD58DC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212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arxiv.org/abs/2409.13313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hpcg-benchmark/hpcg" TargetMode="External"/><Relationship Id="rId2" Type="http://schemas.openxmlformats.org/officeDocument/2006/relationships/hyperlink" Target="https://www.netlib.org/benchmark/hpl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arxiv.org/pdf/1911.02549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graph500.org/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0E21785-62D8-430F-9521-90166EF7C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D7CF8A0-D3E4-4A16-87D3-1D973AC61B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013296" y="697832"/>
            <a:ext cx="8189484" cy="5541981"/>
          </a:xfrm>
          <a:custGeom>
            <a:avLst/>
            <a:gdLst>
              <a:gd name="connsiteX0" fmla="*/ 1164045 w 7323233"/>
              <a:gd name="connsiteY0" fmla="*/ 25 h 5835507"/>
              <a:gd name="connsiteX1" fmla="*/ 1213723 w 7323233"/>
              <a:gd name="connsiteY1" fmla="*/ 8385 h 5835507"/>
              <a:gd name="connsiteX2" fmla="*/ 2251656 w 7323233"/>
              <a:gd name="connsiteY2" fmla="*/ 138318 h 5835507"/>
              <a:gd name="connsiteX3" fmla="*/ 3226534 w 7323233"/>
              <a:gd name="connsiteY3" fmla="*/ 205194 h 5835507"/>
              <a:gd name="connsiteX4" fmla="*/ 4404335 w 7323233"/>
              <a:gd name="connsiteY4" fmla="*/ 316784 h 5835507"/>
              <a:gd name="connsiteX5" fmla="*/ 5225968 w 7323233"/>
              <a:gd name="connsiteY5" fmla="*/ 350415 h 5835507"/>
              <a:gd name="connsiteX6" fmla="*/ 5266859 w 7323233"/>
              <a:gd name="connsiteY6" fmla="*/ 348884 h 5835507"/>
              <a:gd name="connsiteX7" fmla="*/ 5685318 w 7323233"/>
              <a:gd name="connsiteY7" fmla="*/ 399712 h 5835507"/>
              <a:gd name="connsiteX8" fmla="*/ 5411315 w 7323233"/>
              <a:gd name="connsiteY8" fmla="*/ 618305 h 5835507"/>
              <a:gd name="connsiteX9" fmla="*/ 5805698 w 7323233"/>
              <a:gd name="connsiteY9" fmla="*/ 721868 h 5835507"/>
              <a:gd name="connsiteX10" fmla="*/ 6188997 w 7323233"/>
              <a:gd name="connsiteY10" fmla="*/ 868233 h 5835507"/>
              <a:gd name="connsiteX11" fmla="*/ 6261225 w 7323233"/>
              <a:gd name="connsiteY11" fmla="*/ 928614 h 5835507"/>
              <a:gd name="connsiteX12" fmla="*/ 6858533 w 7323233"/>
              <a:gd name="connsiteY12" fmla="*/ 1323379 h 5835507"/>
              <a:gd name="connsiteX13" fmla="*/ 6744269 w 7323233"/>
              <a:gd name="connsiteY13" fmla="*/ 1407072 h 5835507"/>
              <a:gd name="connsiteX14" fmla="*/ 6956365 w 7323233"/>
              <a:gd name="connsiteY14" fmla="*/ 1507197 h 5835507"/>
              <a:gd name="connsiteX15" fmla="*/ 7004134 w 7323233"/>
              <a:gd name="connsiteY15" fmla="*/ 1549234 h 5835507"/>
              <a:gd name="connsiteX16" fmla="*/ 6963627 w 7323233"/>
              <a:gd name="connsiteY16" fmla="*/ 1599678 h 5835507"/>
              <a:gd name="connsiteX17" fmla="*/ 6875731 w 7323233"/>
              <a:gd name="connsiteY17" fmla="*/ 1634837 h 5835507"/>
              <a:gd name="connsiteX18" fmla="*/ 6759175 w 7323233"/>
              <a:gd name="connsiteY18" fmla="*/ 1723878 h 5835507"/>
              <a:gd name="connsiteX19" fmla="*/ 6763759 w 7323233"/>
              <a:gd name="connsiteY19" fmla="*/ 1793431 h 5835507"/>
              <a:gd name="connsiteX20" fmla="*/ 6832931 w 7323233"/>
              <a:gd name="connsiteY20" fmla="*/ 1919543 h 5835507"/>
              <a:gd name="connsiteX21" fmla="*/ 6728984 w 7323233"/>
              <a:gd name="connsiteY21" fmla="*/ 2051386 h 5835507"/>
              <a:gd name="connsiteX22" fmla="*/ 6675481 w 7323233"/>
              <a:gd name="connsiteY22" fmla="*/ 2090365 h 5835507"/>
              <a:gd name="connsiteX23" fmla="*/ 6778665 w 7323233"/>
              <a:gd name="connsiteY23" fmla="*/ 2103740 h 5835507"/>
              <a:gd name="connsiteX24" fmla="*/ 6814587 w 7323233"/>
              <a:gd name="connsiteY24" fmla="*/ 2158771 h 5835507"/>
              <a:gd name="connsiteX25" fmla="*/ 6830637 w 7323233"/>
              <a:gd name="connsiteY25" fmla="*/ 2186286 h 5835507"/>
              <a:gd name="connsiteX26" fmla="*/ 6928087 w 7323233"/>
              <a:gd name="connsiteY26" fmla="*/ 2358639 h 5835507"/>
              <a:gd name="connsiteX27" fmla="*/ 6911653 w 7323233"/>
              <a:gd name="connsiteY27" fmla="*/ 2406789 h 5835507"/>
              <a:gd name="connsiteX28" fmla="*/ 6749237 w 7323233"/>
              <a:gd name="connsiteY28" fmla="*/ 2639522 h 5835507"/>
              <a:gd name="connsiteX29" fmla="*/ 6921971 w 7323233"/>
              <a:gd name="connsiteY29" fmla="*/ 2704488 h 5835507"/>
              <a:gd name="connsiteX30" fmla="*/ 6932290 w 7323233"/>
              <a:gd name="connsiteY30" fmla="*/ 2814548 h 5835507"/>
              <a:gd name="connsiteX31" fmla="*/ 7020186 w 7323233"/>
              <a:gd name="connsiteY31" fmla="*/ 2937603 h 5835507"/>
              <a:gd name="connsiteX32" fmla="*/ 7213555 w 7323233"/>
              <a:gd name="connsiteY32" fmla="*/ 3110719 h 5835507"/>
              <a:gd name="connsiteX33" fmla="*/ 7323233 w 7323233"/>
              <a:gd name="connsiteY33" fmla="*/ 3226893 h 5835507"/>
              <a:gd name="connsiteX34" fmla="*/ 7134067 w 7323233"/>
              <a:gd name="connsiteY34" fmla="*/ 3257847 h 5835507"/>
              <a:gd name="connsiteX35" fmla="*/ 7104643 w 7323233"/>
              <a:gd name="connsiteY35" fmla="*/ 3275809 h 5835507"/>
              <a:gd name="connsiteX36" fmla="*/ 7127189 w 7323233"/>
              <a:gd name="connsiteY36" fmla="*/ 3336953 h 5835507"/>
              <a:gd name="connsiteX37" fmla="*/ 7157379 w 7323233"/>
              <a:gd name="connsiteY37" fmla="*/ 3397718 h 5835507"/>
              <a:gd name="connsiteX38" fmla="*/ 7136361 w 7323233"/>
              <a:gd name="connsiteY38" fmla="*/ 3445487 h 5835507"/>
              <a:gd name="connsiteX39" fmla="*/ 6988849 w 7323233"/>
              <a:gd name="connsiteY39" fmla="*/ 3652233 h 5835507"/>
              <a:gd name="connsiteX40" fmla="*/ 6867705 w 7323233"/>
              <a:gd name="connsiteY40" fmla="*/ 3734395 h 5835507"/>
              <a:gd name="connsiteX41" fmla="*/ 6591791 w 7323233"/>
              <a:gd name="connsiteY41" fmla="*/ 4107760 h 5835507"/>
              <a:gd name="connsiteX42" fmla="*/ 6505041 w 7323233"/>
              <a:gd name="connsiteY42" fmla="*/ 4228904 h 5835507"/>
              <a:gd name="connsiteX43" fmla="*/ 6569243 w 7323233"/>
              <a:gd name="connsiteY43" fmla="*/ 4271704 h 5835507"/>
              <a:gd name="connsiteX44" fmla="*/ 6446188 w 7323233"/>
              <a:gd name="connsiteY44" fmla="*/ 4398582 h 5835507"/>
              <a:gd name="connsiteX45" fmla="*/ 6301351 w 7323233"/>
              <a:gd name="connsiteY45" fmla="*/ 4539595 h 5835507"/>
              <a:gd name="connsiteX46" fmla="*/ 6263519 w 7323233"/>
              <a:gd name="connsiteY46" fmla="*/ 4577047 h 5835507"/>
              <a:gd name="connsiteX47" fmla="*/ 3277744 w 7323233"/>
              <a:gd name="connsiteY47" fmla="*/ 5834336 h 5835507"/>
              <a:gd name="connsiteX48" fmla="*/ 2490505 w 7323233"/>
              <a:gd name="connsiteY48" fmla="*/ 5648992 h 5835507"/>
              <a:gd name="connsiteX49" fmla="*/ 2179046 w 7323233"/>
              <a:gd name="connsiteY49" fmla="*/ 5504920 h 5835507"/>
              <a:gd name="connsiteX50" fmla="*/ 1780078 w 7323233"/>
              <a:gd name="connsiteY50" fmla="*/ 5273715 h 5835507"/>
              <a:gd name="connsiteX51" fmla="*/ 1353592 w 7323233"/>
              <a:gd name="connsiteY51" fmla="*/ 5087606 h 5835507"/>
              <a:gd name="connsiteX52" fmla="*/ 1208373 w 7323233"/>
              <a:gd name="connsiteY52" fmla="*/ 4917165 h 5835507"/>
              <a:gd name="connsiteX53" fmla="*/ 1157548 w 7323233"/>
              <a:gd name="connsiteY53" fmla="*/ 4869396 h 5835507"/>
              <a:gd name="connsiteX54" fmla="*/ 1030289 w 7323233"/>
              <a:gd name="connsiteY54" fmla="*/ 4807103 h 5835507"/>
              <a:gd name="connsiteX55" fmla="*/ 808258 w 7323233"/>
              <a:gd name="connsiteY55" fmla="*/ 4672585 h 5835507"/>
              <a:gd name="connsiteX56" fmla="*/ 889658 w 7323233"/>
              <a:gd name="connsiteY56" fmla="*/ 4642013 h 5835507"/>
              <a:gd name="connsiteX57" fmla="*/ 1123917 w 7323233"/>
              <a:gd name="connsiteY57" fmla="*/ 4723412 h 5835507"/>
              <a:gd name="connsiteX58" fmla="*/ 1294360 w 7323233"/>
              <a:gd name="connsiteY58" fmla="*/ 4745194 h 5835507"/>
              <a:gd name="connsiteX59" fmla="*/ 1054367 w 7323233"/>
              <a:gd name="connsiteY59" fmla="*/ 4603034 h 5835507"/>
              <a:gd name="connsiteX60" fmla="*/ 822015 w 7323233"/>
              <a:gd name="connsiteY60" fmla="*/ 4418070 h 5835507"/>
              <a:gd name="connsiteX61" fmla="*/ 1001246 w 7323233"/>
              <a:gd name="connsiteY61" fmla="*/ 4453610 h 5835507"/>
              <a:gd name="connsiteX62" fmla="*/ 1008889 w 7323233"/>
              <a:gd name="connsiteY62" fmla="*/ 4428770 h 5835507"/>
              <a:gd name="connsiteX63" fmla="*/ 853733 w 7323233"/>
              <a:gd name="connsiteY63" fmla="*/ 4208648 h 5835507"/>
              <a:gd name="connsiteX64" fmla="*/ 776921 w 7323233"/>
              <a:gd name="connsiteY64" fmla="*/ 4119989 h 5835507"/>
              <a:gd name="connsiteX65" fmla="*/ 431453 w 7323233"/>
              <a:gd name="connsiteY65" fmla="*/ 3852864 h 5835507"/>
              <a:gd name="connsiteX66" fmla="*/ 759342 w 7323233"/>
              <a:gd name="connsiteY66" fmla="*/ 3972095 h 5835507"/>
              <a:gd name="connsiteX67" fmla="*/ 420753 w 7323233"/>
              <a:gd name="connsiteY67" fmla="*/ 3712230 h 5835507"/>
              <a:gd name="connsiteX68" fmla="*/ 256425 w 7323233"/>
              <a:gd name="connsiteY68" fmla="*/ 3616309 h 5835507"/>
              <a:gd name="connsiteX69" fmla="*/ 214772 w 7323233"/>
              <a:gd name="connsiteY69" fmla="*/ 3559749 h 5835507"/>
              <a:gd name="connsiteX70" fmla="*/ 287762 w 7323233"/>
              <a:gd name="connsiteY70" fmla="*/ 3547521 h 5835507"/>
              <a:gd name="connsiteX71" fmla="*/ 511706 w 7323233"/>
              <a:gd name="connsiteY71" fmla="*/ 3569305 h 5835507"/>
              <a:gd name="connsiteX72" fmla="*/ 235409 w 7323233"/>
              <a:gd name="connsiteY72" fmla="*/ 3394659 h 5835507"/>
              <a:gd name="connsiteX73" fmla="*/ 442537 w 7323233"/>
              <a:gd name="connsiteY73" fmla="*/ 3421409 h 5835507"/>
              <a:gd name="connsiteX74" fmla="*/ 502152 w 7323233"/>
              <a:gd name="connsiteY74" fmla="*/ 3352622 h 5835507"/>
              <a:gd name="connsiteX75" fmla="*/ 598455 w 7323233"/>
              <a:gd name="connsiteY75" fmla="*/ 3241415 h 5835507"/>
              <a:gd name="connsiteX76" fmla="*/ 664949 w 7323233"/>
              <a:gd name="connsiteY76" fmla="*/ 3179506 h 5835507"/>
              <a:gd name="connsiteX77" fmla="*/ 692846 w 7323233"/>
              <a:gd name="connsiteY77" fmla="*/ 2984607 h 5835507"/>
              <a:gd name="connsiteX78" fmla="*/ 635524 w 7323233"/>
              <a:gd name="connsiteY78" fmla="*/ 2771366 h 5835507"/>
              <a:gd name="connsiteX79" fmla="*/ 480368 w 7323233"/>
              <a:gd name="connsiteY79" fmla="*/ 2663598 h 5835507"/>
              <a:gd name="connsiteX80" fmla="*/ 525081 w 7323233"/>
              <a:gd name="connsiteY80" fmla="*/ 2542454 h 5835507"/>
              <a:gd name="connsiteX81" fmla="*/ 855264 w 7323233"/>
              <a:gd name="connsiteY81" fmla="*/ 2615829 h 5835507"/>
              <a:gd name="connsiteX82" fmla="*/ 361137 w 7323233"/>
              <a:gd name="connsiteY82" fmla="*/ 2327301 h 5835507"/>
              <a:gd name="connsiteX83" fmla="*/ 444065 w 7323233"/>
              <a:gd name="connsiteY83" fmla="*/ 2312780 h 5835507"/>
              <a:gd name="connsiteX84" fmla="*/ 440625 w 7323233"/>
              <a:gd name="connsiteY84" fmla="*/ 2290233 h 5835507"/>
              <a:gd name="connsiteX85" fmla="*/ 445975 w 7323233"/>
              <a:gd name="connsiteY85" fmla="*/ 2151509 h 5835507"/>
              <a:gd name="connsiteX86" fmla="*/ 459734 w 7323233"/>
              <a:gd name="connsiteY86" fmla="*/ 2087690 h 5835507"/>
              <a:gd name="connsiteX87" fmla="*/ 437950 w 7323233"/>
              <a:gd name="connsiteY87" fmla="*/ 2014315 h 5835507"/>
              <a:gd name="connsiteX88" fmla="*/ 808640 w 7323233"/>
              <a:gd name="connsiteY88" fmla="*/ 2042977 h 5835507"/>
              <a:gd name="connsiteX89" fmla="*/ 969908 w 7323233"/>
              <a:gd name="connsiteY89" fmla="*/ 2026162 h 5835507"/>
              <a:gd name="connsiteX90" fmla="*/ 1251176 w 7323233"/>
              <a:gd name="connsiteY90" fmla="*/ 2021577 h 5835507"/>
              <a:gd name="connsiteX91" fmla="*/ 1381491 w 7323233"/>
              <a:gd name="connsiteY91" fmla="*/ 2035718 h 5835507"/>
              <a:gd name="connsiteX92" fmla="*/ 1492697 w 7323233"/>
              <a:gd name="connsiteY92" fmla="*/ 2017374 h 5835507"/>
              <a:gd name="connsiteX93" fmla="*/ 1386076 w 7323233"/>
              <a:gd name="connsiteY93" fmla="*/ 1931006 h 5835507"/>
              <a:gd name="connsiteX94" fmla="*/ 1235889 w 7323233"/>
              <a:gd name="connsiteY94" fmla="*/ 1932153 h 5835507"/>
              <a:gd name="connsiteX95" fmla="*/ 1128886 w 7323233"/>
              <a:gd name="connsiteY95" fmla="*/ 1875977 h 5835507"/>
              <a:gd name="connsiteX96" fmla="*/ 1026851 w 7323233"/>
              <a:gd name="connsiteY96" fmla="*/ 1774322 h 5835507"/>
              <a:gd name="connsiteX97" fmla="*/ 666861 w 7323233"/>
              <a:gd name="connsiteY97" fmla="*/ 1612290 h 5835507"/>
              <a:gd name="connsiteX98" fmla="*/ 601130 w 7323233"/>
              <a:gd name="connsiteY98" fmla="*/ 1550762 h 5835507"/>
              <a:gd name="connsiteX99" fmla="*/ 1630272 w 7323233"/>
              <a:gd name="connsiteY99" fmla="*/ 1785787 h 5835507"/>
              <a:gd name="connsiteX100" fmla="*/ 1312320 w 7323233"/>
              <a:gd name="connsiteY100" fmla="*/ 1687191 h 5835507"/>
              <a:gd name="connsiteX101" fmla="*/ 1527473 w 7323233"/>
              <a:gd name="connsiteY101" fmla="*/ 1705153 h 5835507"/>
              <a:gd name="connsiteX102" fmla="*/ 1646706 w 7323233"/>
              <a:gd name="connsiteY102" fmla="*/ 1639040 h 5835507"/>
              <a:gd name="connsiteX103" fmla="*/ 1645178 w 7323233"/>
              <a:gd name="connsiteY103" fmla="*/ 1620315 h 5835507"/>
              <a:gd name="connsiteX104" fmla="*/ 1557663 w 7323233"/>
              <a:gd name="connsiteY104" fmla="*/ 1558787 h 5835507"/>
              <a:gd name="connsiteX105" fmla="*/ 1506454 w 7323233"/>
              <a:gd name="connsiteY105" fmla="*/ 1519044 h 5835507"/>
              <a:gd name="connsiteX106" fmla="*/ 1366204 w 7323233"/>
              <a:gd name="connsiteY106" fmla="*/ 1375735 h 5835507"/>
              <a:gd name="connsiteX107" fmla="*/ 1466329 w 7323233"/>
              <a:gd name="connsiteY107" fmla="*/ 1360450 h 5835507"/>
              <a:gd name="connsiteX108" fmla="*/ 1503397 w 7323233"/>
              <a:gd name="connsiteY108" fmla="*/ 1330641 h 5835507"/>
              <a:gd name="connsiteX109" fmla="*/ 1475501 w 7323233"/>
              <a:gd name="connsiteY109" fmla="*/ 1288604 h 5835507"/>
              <a:gd name="connsiteX110" fmla="*/ 1165573 w 7323233"/>
              <a:gd name="connsiteY110" fmla="*/ 1159435 h 5835507"/>
              <a:gd name="connsiteX111" fmla="*/ 1141498 w 7323233"/>
              <a:gd name="connsiteY111" fmla="*/ 1059311 h 5835507"/>
              <a:gd name="connsiteX112" fmla="*/ 1199585 w 7323233"/>
              <a:gd name="connsiteY112" fmla="*/ 1044407 h 5835507"/>
              <a:gd name="connsiteX113" fmla="*/ 1267226 w 7323233"/>
              <a:gd name="connsiteY113" fmla="*/ 1051286 h 5835507"/>
              <a:gd name="connsiteX114" fmla="*/ 1213342 w 7323233"/>
              <a:gd name="connsiteY114" fmla="*/ 972561 h 5835507"/>
              <a:gd name="connsiteX115" fmla="*/ 993986 w 7323233"/>
              <a:gd name="connsiteY115" fmla="*/ 893073 h 5835507"/>
              <a:gd name="connsiteX116" fmla="*/ 1047486 w 7323233"/>
              <a:gd name="connsiteY116" fmla="*/ 820083 h 5835507"/>
              <a:gd name="connsiteX117" fmla="*/ 0 w 7323233"/>
              <a:gd name="connsiteY117" fmla="*/ 488371 h 5835507"/>
              <a:gd name="connsiteX118" fmla="*/ 188403 w 7323233"/>
              <a:gd name="connsiteY118" fmla="*/ 484933 h 5835507"/>
              <a:gd name="connsiteX119" fmla="*/ 584315 w 7323233"/>
              <a:gd name="connsiteY119" fmla="*/ 534230 h 5835507"/>
              <a:gd name="connsiteX120" fmla="*/ 782271 w 7323233"/>
              <a:gd name="connsiteY120" fmla="*/ 525824 h 5835507"/>
              <a:gd name="connsiteX121" fmla="*/ 967998 w 7323233"/>
              <a:gd name="connsiteY121" fmla="*/ 552574 h 5835507"/>
              <a:gd name="connsiteX122" fmla="*/ 1129651 w 7323233"/>
              <a:gd name="connsiteY122" fmla="*/ 552574 h 5835507"/>
              <a:gd name="connsiteX123" fmla="*/ 978317 w 7323233"/>
              <a:gd name="connsiteY123" fmla="*/ 513593 h 5835507"/>
              <a:gd name="connsiteX124" fmla="*/ 1074620 w 7323233"/>
              <a:gd name="connsiteY124" fmla="*/ 478818 h 5835507"/>
              <a:gd name="connsiteX125" fmla="*/ 1091435 w 7323233"/>
              <a:gd name="connsiteY125" fmla="*/ 436781 h 5835507"/>
              <a:gd name="connsiteX126" fmla="*/ 1135383 w 7323233"/>
              <a:gd name="connsiteY126" fmla="*/ 404296 h 5835507"/>
              <a:gd name="connsiteX127" fmla="*/ 1384166 w 7323233"/>
              <a:gd name="connsiteY127" fmla="*/ 420349 h 5835507"/>
              <a:gd name="connsiteX128" fmla="*/ 1219839 w 7323233"/>
              <a:gd name="connsiteY128" fmla="*/ 286593 h 5835507"/>
              <a:gd name="connsiteX129" fmla="*/ 1114364 w 7323233"/>
              <a:gd name="connsiteY129" fmla="*/ 264428 h 5835507"/>
              <a:gd name="connsiteX130" fmla="*/ 1090289 w 7323233"/>
              <a:gd name="connsiteY130" fmla="*/ 207487 h 5835507"/>
              <a:gd name="connsiteX131" fmla="*/ 1139204 w 7323233"/>
              <a:gd name="connsiteY131" fmla="*/ 195259 h 5835507"/>
              <a:gd name="connsiteX132" fmla="*/ 1382254 w 7323233"/>
              <a:gd name="connsiteY132" fmla="*/ 242265 h 5835507"/>
              <a:gd name="connsiteX133" fmla="*/ 1423145 w 7323233"/>
              <a:gd name="connsiteY133" fmla="*/ 223537 h 5835507"/>
              <a:gd name="connsiteX134" fmla="*/ 965705 w 7323233"/>
              <a:gd name="connsiteY134" fmla="*/ 102013 h 5835507"/>
              <a:gd name="connsiteX135" fmla="*/ 972586 w 7323233"/>
              <a:gd name="connsiteY135" fmla="*/ 69912 h 5835507"/>
              <a:gd name="connsiteX136" fmla="*/ 1375376 w 7323233"/>
              <a:gd name="connsiteY136" fmla="*/ 119593 h 5835507"/>
              <a:gd name="connsiteX137" fmla="*/ 1117804 w 7323233"/>
              <a:gd name="connsiteY137" fmla="*/ 25200 h 5835507"/>
              <a:gd name="connsiteX138" fmla="*/ 1164045 w 7323233"/>
              <a:gd name="connsiteY138" fmla="*/ 25 h 58355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</a:cxnLst>
            <a:rect l="l" t="t" r="r" b="b"/>
            <a:pathLst>
              <a:path w="7323233" h="5835507">
                <a:moveTo>
                  <a:pt x="1164045" y="25"/>
                </a:moveTo>
                <a:cubicBezTo>
                  <a:pt x="1180764" y="455"/>
                  <a:pt x="1198056" y="6474"/>
                  <a:pt x="1213723" y="8385"/>
                </a:cubicBezTo>
                <a:cubicBezTo>
                  <a:pt x="1559575" y="51187"/>
                  <a:pt x="1905425" y="97428"/>
                  <a:pt x="2251656" y="138318"/>
                </a:cubicBezTo>
                <a:cubicBezTo>
                  <a:pt x="2575343" y="176534"/>
                  <a:pt x="2901320" y="185322"/>
                  <a:pt x="3226534" y="205194"/>
                </a:cubicBezTo>
                <a:cubicBezTo>
                  <a:pt x="3620153" y="229271"/>
                  <a:pt x="4013008" y="263284"/>
                  <a:pt x="4404335" y="316784"/>
                </a:cubicBezTo>
                <a:cubicBezTo>
                  <a:pt x="4676048" y="354236"/>
                  <a:pt x="4950435" y="380221"/>
                  <a:pt x="5225968" y="350415"/>
                </a:cubicBezTo>
                <a:cubicBezTo>
                  <a:pt x="5239725" y="348884"/>
                  <a:pt x="5255394" y="343918"/>
                  <a:pt x="5266859" y="348884"/>
                </a:cubicBezTo>
                <a:cubicBezTo>
                  <a:pt x="5400614" y="404680"/>
                  <a:pt x="5546596" y="364553"/>
                  <a:pt x="5685318" y="399712"/>
                </a:cubicBezTo>
                <a:cubicBezTo>
                  <a:pt x="5649777" y="535377"/>
                  <a:pt x="5497299" y="524293"/>
                  <a:pt x="5411315" y="618305"/>
                </a:cubicBezTo>
                <a:cubicBezTo>
                  <a:pt x="5551565" y="655755"/>
                  <a:pt x="5677676" y="693589"/>
                  <a:pt x="5805698" y="721868"/>
                </a:cubicBezTo>
                <a:cubicBezTo>
                  <a:pt x="5941363" y="751677"/>
                  <a:pt x="6056391" y="832311"/>
                  <a:pt x="6188997" y="868233"/>
                </a:cubicBezTo>
                <a:cubicBezTo>
                  <a:pt x="6217279" y="875876"/>
                  <a:pt x="6251291" y="902627"/>
                  <a:pt x="6261225" y="928614"/>
                </a:cubicBezTo>
                <a:cubicBezTo>
                  <a:pt x="6293326" y="1012688"/>
                  <a:pt x="6934199" y="1248479"/>
                  <a:pt x="6858533" y="1323379"/>
                </a:cubicBezTo>
                <a:cubicBezTo>
                  <a:pt x="6827197" y="1354335"/>
                  <a:pt x="6786687" y="1376500"/>
                  <a:pt x="6744269" y="1407072"/>
                </a:cubicBezTo>
                <a:cubicBezTo>
                  <a:pt x="6808090" y="1464778"/>
                  <a:pt x="6879934" y="1490000"/>
                  <a:pt x="6956365" y="1507197"/>
                </a:cubicBezTo>
                <a:cubicBezTo>
                  <a:pt x="6979295" y="1512547"/>
                  <a:pt x="7001843" y="1523247"/>
                  <a:pt x="7004134" y="1549234"/>
                </a:cubicBezTo>
                <a:cubicBezTo>
                  <a:pt x="7006427" y="1576366"/>
                  <a:pt x="6983115" y="1587066"/>
                  <a:pt x="6963627" y="1599678"/>
                </a:cubicBezTo>
                <a:cubicBezTo>
                  <a:pt x="6936493" y="1617256"/>
                  <a:pt x="6910125" y="1632543"/>
                  <a:pt x="6875731" y="1634837"/>
                </a:cubicBezTo>
                <a:cubicBezTo>
                  <a:pt x="6819171" y="1638275"/>
                  <a:pt x="6792040" y="1687191"/>
                  <a:pt x="6759175" y="1723878"/>
                </a:cubicBezTo>
                <a:cubicBezTo>
                  <a:pt x="6740831" y="1744515"/>
                  <a:pt x="6731659" y="1786169"/>
                  <a:pt x="6763759" y="1793431"/>
                </a:cubicBezTo>
                <a:cubicBezTo>
                  <a:pt x="6840955" y="1811009"/>
                  <a:pt x="6834840" y="1861837"/>
                  <a:pt x="6832931" y="1919543"/>
                </a:cubicBezTo>
                <a:cubicBezTo>
                  <a:pt x="6830255" y="1991005"/>
                  <a:pt x="6784777" y="2023871"/>
                  <a:pt x="6728984" y="2051386"/>
                </a:cubicBezTo>
                <a:cubicBezTo>
                  <a:pt x="6709875" y="2060939"/>
                  <a:pt x="6682743" y="2060556"/>
                  <a:pt x="6675481" y="2090365"/>
                </a:cubicBezTo>
                <a:cubicBezTo>
                  <a:pt x="6706819" y="2118645"/>
                  <a:pt x="6745034" y="2095715"/>
                  <a:pt x="6778665" y="2103740"/>
                </a:cubicBezTo>
                <a:cubicBezTo>
                  <a:pt x="6806561" y="2110237"/>
                  <a:pt x="6852802" y="2106799"/>
                  <a:pt x="6814587" y="2158771"/>
                </a:cubicBezTo>
                <a:cubicBezTo>
                  <a:pt x="6803503" y="2173674"/>
                  <a:pt x="6816497" y="2185139"/>
                  <a:pt x="6830637" y="2186286"/>
                </a:cubicBezTo>
                <a:cubicBezTo>
                  <a:pt x="6943755" y="2198133"/>
                  <a:pt x="6891781" y="2303226"/>
                  <a:pt x="6928087" y="2358639"/>
                </a:cubicBezTo>
                <a:cubicBezTo>
                  <a:pt x="6938021" y="2373923"/>
                  <a:pt x="6927321" y="2400292"/>
                  <a:pt x="6911653" y="2406789"/>
                </a:cubicBezTo>
                <a:cubicBezTo>
                  <a:pt x="6811528" y="2449592"/>
                  <a:pt x="6797771" y="2551626"/>
                  <a:pt x="6749237" y="2639522"/>
                </a:cubicBezTo>
                <a:cubicBezTo>
                  <a:pt x="6801975" y="2674298"/>
                  <a:pt x="6865031" y="2681941"/>
                  <a:pt x="6921971" y="2704488"/>
                </a:cubicBezTo>
                <a:cubicBezTo>
                  <a:pt x="6981205" y="2728182"/>
                  <a:pt x="6981205" y="2745760"/>
                  <a:pt x="6932290" y="2814548"/>
                </a:cubicBezTo>
                <a:cubicBezTo>
                  <a:pt x="7059546" y="2829453"/>
                  <a:pt x="7059546" y="2829453"/>
                  <a:pt x="7020186" y="2937603"/>
                </a:cubicBezTo>
                <a:cubicBezTo>
                  <a:pt x="7126808" y="2947538"/>
                  <a:pt x="7197123" y="2998747"/>
                  <a:pt x="7213555" y="3110719"/>
                </a:cubicBezTo>
                <a:cubicBezTo>
                  <a:pt x="7221580" y="3164984"/>
                  <a:pt x="7269733" y="3190588"/>
                  <a:pt x="7323233" y="3226893"/>
                </a:cubicBezTo>
                <a:cubicBezTo>
                  <a:pt x="7256739" y="3262053"/>
                  <a:pt x="7211645" y="3335425"/>
                  <a:pt x="7134067" y="3257847"/>
                </a:cubicBezTo>
                <a:cubicBezTo>
                  <a:pt x="7105789" y="3229569"/>
                  <a:pt x="7108462" y="3265491"/>
                  <a:pt x="7104643" y="3275809"/>
                </a:cubicBezTo>
                <a:cubicBezTo>
                  <a:pt x="7095471" y="3301031"/>
                  <a:pt x="7114577" y="3317846"/>
                  <a:pt x="7127189" y="3336953"/>
                </a:cubicBezTo>
                <a:cubicBezTo>
                  <a:pt x="7139417" y="3356062"/>
                  <a:pt x="7153939" y="3376315"/>
                  <a:pt x="7157379" y="3397718"/>
                </a:cubicBezTo>
                <a:cubicBezTo>
                  <a:pt x="7159671" y="3412621"/>
                  <a:pt x="7148589" y="3434403"/>
                  <a:pt x="7136361" y="3445487"/>
                </a:cubicBezTo>
                <a:cubicBezTo>
                  <a:pt x="7072159" y="3503956"/>
                  <a:pt x="7110374" y="3635418"/>
                  <a:pt x="6988849" y="3652233"/>
                </a:cubicBezTo>
                <a:cubicBezTo>
                  <a:pt x="6934199" y="3659874"/>
                  <a:pt x="6907831" y="3708027"/>
                  <a:pt x="6867705" y="3734395"/>
                </a:cubicBezTo>
                <a:cubicBezTo>
                  <a:pt x="6728219" y="3826495"/>
                  <a:pt x="6634972" y="3944964"/>
                  <a:pt x="6591791" y="4107760"/>
                </a:cubicBezTo>
                <a:cubicBezTo>
                  <a:pt x="6579943" y="4152854"/>
                  <a:pt x="6534466" y="4189160"/>
                  <a:pt x="6505041" y="4228904"/>
                </a:cubicBezTo>
                <a:cubicBezTo>
                  <a:pt x="6519181" y="4257948"/>
                  <a:pt x="6596375" y="4195273"/>
                  <a:pt x="6569243" y="4271704"/>
                </a:cubicBezTo>
                <a:cubicBezTo>
                  <a:pt x="6548606" y="4329029"/>
                  <a:pt x="6495869" y="4364569"/>
                  <a:pt x="6446188" y="4398582"/>
                </a:cubicBezTo>
                <a:cubicBezTo>
                  <a:pt x="6389629" y="4437179"/>
                  <a:pt x="6326957" y="4468132"/>
                  <a:pt x="6301351" y="4539595"/>
                </a:cubicBezTo>
                <a:cubicBezTo>
                  <a:pt x="6296001" y="4554882"/>
                  <a:pt x="6278804" y="4570932"/>
                  <a:pt x="6263519" y="4577047"/>
                </a:cubicBezTo>
                <a:cubicBezTo>
                  <a:pt x="5466343" y="5834719"/>
                  <a:pt x="3503978" y="5843126"/>
                  <a:pt x="3277744" y="5834336"/>
                </a:cubicBezTo>
                <a:cubicBezTo>
                  <a:pt x="3003739" y="5823254"/>
                  <a:pt x="2744636" y="5745676"/>
                  <a:pt x="2490505" y="5648992"/>
                </a:cubicBezTo>
                <a:cubicBezTo>
                  <a:pt x="2383118" y="5608101"/>
                  <a:pt x="2283377" y="5550014"/>
                  <a:pt x="2179046" y="5504920"/>
                </a:cubicBezTo>
                <a:cubicBezTo>
                  <a:pt x="2034975" y="5442627"/>
                  <a:pt x="1923768" y="5323777"/>
                  <a:pt x="1780078" y="5273715"/>
                </a:cubicBezTo>
                <a:cubicBezTo>
                  <a:pt x="1632184" y="5222124"/>
                  <a:pt x="1505691" y="5127731"/>
                  <a:pt x="1353592" y="5087606"/>
                </a:cubicBezTo>
                <a:cubicBezTo>
                  <a:pt x="1273341" y="5066205"/>
                  <a:pt x="1195763" y="5027608"/>
                  <a:pt x="1208373" y="4917165"/>
                </a:cubicBezTo>
                <a:cubicBezTo>
                  <a:pt x="1211813" y="4885828"/>
                  <a:pt x="1190795" y="4860224"/>
                  <a:pt x="1157548" y="4869396"/>
                </a:cubicBezTo>
                <a:cubicBezTo>
                  <a:pt x="1094110" y="4886593"/>
                  <a:pt x="1065448" y="4841115"/>
                  <a:pt x="1030289" y="4807103"/>
                </a:cubicBezTo>
                <a:cubicBezTo>
                  <a:pt x="967617" y="4746725"/>
                  <a:pt x="908001" y="4682522"/>
                  <a:pt x="808258" y="4672585"/>
                </a:cubicBezTo>
                <a:cubicBezTo>
                  <a:pt x="827365" y="4625197"/>
                  <a:pt x="859849" y="4632078"/>
                  <a:pt x="889658" y="4642013"/>
                </a:cubicBezTo>
                <a:cubicBezTo>
                  <a:pt x="967998" y="4668000"/>
                  <a:pt x="1045576" y="4697425"/>
                  <a:pt x="1123917" y="4723412"/>
                </a:cubicBezTo>
                <a:cubicBezTo>
                  <a:pt x="1175126" y="4740228"/>
                  <a:pt x="1225954" y="4763921"/>
                  <a:pt x="1294360" y="4745194"/>
                </a:cubicBezTo>
                <a:cubicBezTo>
                  <a:pt x="1235507" y="4649656"/>
                  <a:pt x="1135383" y="4632459"/>
                  <a:pt x="1054367" y="4603034"/>
                </a:cubicBezTo>
                <a:cubicBezTo>
                  <a:pt x="953095" y="4565966"/>
                  <a:pt x="893480" y="4496029"/>
                  <a:pt x="822015" y="4418070"/>
                </a:cubicBezTo>
                <a:cubicBezTo>
                  <a:pt x="896536" y="4399344"/>
                  <a:pt x="942777" y="4456669"/>
                  <a:pt x="1001246" y="4453610"/>
                </a:cubicBezTo>
                <a:cubicBezTo>
                  <a:pt x="1004304" y="4443675"/>
                  <a:pt x="1009654" y="4429153"/>
                  <a:pt x="1008889" y="4428770"/>
                </a:cubicBezTo>
                <a:cubicBezTo>
                  <a:pt x="913351" y="4385969"/>
                  <a:pt x="868639" y="4305717"/>
                  <a:pt x="853733" y="4208648"/>
                </a:cubicBezTo>
                <a:cubicBezTo>
                  <a:pt x="846092" y="4158588"/>
                  <a:pt x="811315" y="4142920"/>
                  <a:pt x="776921" y="4119989"/>
                </a:cubicBezTo>
                <a:cubicBezTo>
                  <a:pt x="656924" y="4038591"/>
                  <a:pt x="530049" y="3964835"/>
                  <a:pt x="431453" y="3852864"/>
                </a:cubicBezTo>
                <a:cubicBezTo>
                  <a:pt x="545336" y="3867767"/>
                  <a:pt x="636671" y="3940758"/>
                  <a:pt x="759342" y="3972095"/>
                </a:cubicBezTo>
                <a:cubicBezTo>
                  <a:pt x="661893" y="3849042"/>
                  <a:pt x="535781" y="3786751"/>
                  <a:pt x="420753" y="3712230"/>
                </a:cubicBezTo>
                <a:cubicBezTo>
                  <a:pt x="368397" y="3678218"/>
                  <a:pt x="319865" y="3634652"/>
                  <a:pt x="256425" y="3616309"/>
                </a:cubicBezTo>
                <a:cubicBezTo>
                  <a:pt x="233878" y="3609812"/>
                  <a:pt x="196810" y="3596055"/>
                  <a:pt x="214772" y="3559749"/>
                </a:cubicBezTo>
                <a:cubicBezTo>
                  <a:pt x="230057" y="3529561"/>
                  <a:pt x="260247" y="3538731"/>
                  <a:pt x="287762" y="3547521"/>
                </a:cubicBezTo>
                <a:cubicBezTo>
                  <a:pt x="353875" y="3569305"/>
                  <a:pt x="422281" y="3569687"/>
                  <a:pt x="511706" y="3569305"/>
                </a:cubicBezTo>
                <a:cubicBezTo>
                  <a:pt x="436803" y="3469562"/>
                  <a:pt x="299609" y="3499371"/>
                  <a:pt x="235409" y="3394659"/>
                </a:cubicBezTo>
                <a:cubicBezTo>
                  <a:pt x="315659" y="3376315"/>
                  <a:pt x="377569" y="3414149"/>
                  <a:pt x="442537" y="3421409"/>
                </a:cubicBezTo>
                <a:cubicBezTo>
                  <a:pt x="501387" y="3427906"/>
                  <a:pt x="515909" y="3410328"/>
                  <a:pt x="502152" y="3352622"/>
                </a:cubicBezTo>
                <a:cubicBezTo>
                  <a:pt x="480752" y="3262815"/>
                  <a:pt x="512852" y="3216956"/>
                  <a:pt x="598455" y="3241415"/>
                </a:cubicBezTo>
                <a:cubicBezTo>
                  <a:pt x="677943" y="3264344"/>
                  <a:pt x="686349" y="3230715"/>
                  <a:pt x="664949" y="3179506"/>
                </a:cubicBezTo>
                <a:cubicBezTo>
                  <a:pt x="634377" y="3104987"/>
                  <a:pt x="669153" y="3047281"/>
                  <a:pt x="692846" y="2984607"/>
                </a:cubicBezTo>
                <a:cubicBezTo>
                  <a:pt x="729152" y="2889069"/>
                  <a:pt x="713865" y="2842445"/>
                  <a:pt x="635524" y="2771366"/>
                </a:cubicBezTo>
                <a:cubicBezTo>
                  <a:pt x="591577" y="2731620"/>
                  <a:pt x="544190" y="2697991"/>
                  <a:pt x="480368" y="2663598"/>
                </a:cubicBezTo>
                <a:cubicBezTo>
                  <a:pt x="627499" y="2644872"/>
                  <a:pt x="473109" y="2581817"/>
                  <a:pt x="525081" y="2542454"/>
                </a:cubicBezTo>
                <a:cubicBezTo>
                  <a:pt x="629027" y="2526404"/>
                  <a:pt x="713865" y="2651751"/>
                  <a:pt x="855264" y="2615829"/>
                </a:cubicBezTo>
                <a:cubicBezTo>
                  <a:pt x="680618" y="2507295"/>
                  <a:pt x="487630" y="2471755"/>
                  <a:pt x="361137" y="2327301"/>
                </a:cubicBezTo>
                <a:cubicBezTo>
                  <a:pt x="390181" y="2294436"/>
                  <a:pt x="419224" y="2325008"/>
                  <a:pt x="444065" y="2312780"/>
                </a:cubicBezTo>
                <a:cubicBezTo>
                  <a:pt x="443300" y="2305136"/>
                  <a:pt x="445212" y="2293671"/>
                  <a:pt x="440625" y="2290233"/>
                </a:cubicBezTo>
                <a:cubicBezTo>
                  <a:pt x="346234" y="2211508"/>
                  <a:pt x="344703" y="2209598"/>
                  <a:pt x="445975" y="2151509"/>
                </a:cubicBezTo>
                <a:cubicBezTo>
                  <a:pt x="481515" y="2131255"/>
                  <a:pt x="478459" y="2113293"/>
                  <a:pt x="459734" y="2087690"/>
                </a:cubicBezTo>
                <a:cubicBezTo>
                  <a:pt x="446356" y="2069728"/>
                  <a:pt x="430306" y="2053677"/>
                  <a:pt x="437950" y="2014315"/>
                </a:cubicBezTo>
                <a:cubicBezTo>
                  <a:pt x="493362" y="2064761"/>
                  <a:pt x="761252" y="2048327"/>
                  <a:pt x="808640" y="2042977"/>
                </a:cubicBezTo>
                <a:cubicBezTo>
                  <a:pt x="861758" y="2037246"/>
                  <a:pt x="914114" y="2012787"/>
                  <a:pt x="969908" y="2026162"/>
                </a:cubicBezTo>
                <a:cubicBezTo>
                  <a:pt x="1014621" y="2036864"/>
                  <a:pt x="1221748" y="2140427"/>
                  <a:pt x="1251176" y="2021577"/>
                </a:cubicBezTo>
                <a:cubicBezTo>
                  <a:pt x="1252704" y="2015846"/>
                  <a:pt x="1336395" y="2029221"/>
                  <a:pt x="1381491" y="2035718"/>
                </a:cubicBezTo>
                <a:cubicBezTo>
                  <a:pt x="1421235" y="2041068"/>
                  <a:pt x="1465947" y="2064761"/>
                  <a:pt x="1492697" y="2017374"/>
                </a:cubicBezTo>
                <a:cubicBezTo>
                  <a:pt x="1508366" y="1989477"/>
                  <a:pt x="1443782" y="1935593"/>
                  <a:pt x="1386076" y="1931006"/>
                </a:cubicBezTo>
                <a:cubicBezTo>
                  <a:pt x="1336013" y="1926802"/>
                  <a:pt x="1283658" y="1920687"/>
                  <a:pt x="1235889" y="1932153"/>
                </a:cubicBezTo>
                <a:cubicBezTo>
                  <a:pt x="1177038" y="1945911"/>
                  <a:pt x="1145320" y="1923746"/>
                  <a:pt x="1128886" y="1875977"/>
                </a:cubicBezTo>
                <a:cubicBezTo>
                  <a:pt x="1110542" y="1823240"/>
                  <a:pt x="1075383" y="1798781"/>
                  <a:pt x="1026851" y="1774322"/>
                </a:cubicBezTo>
                <a:cubicBezTo>
                  <a:pt x="909146" y="1715090"/>
                  <a:pt x="796030" y="1646684"/>
                  <a:pt x="666861" y="1612290"/>
                </a:cubicBezTo>
                <a:cubicBezTo>
                  <a:pt x="641255" y="1605409"/>
                  <a:pt x="612977" y="1596238"/>
                  <a:pt x="601130" y="1550762"/>
                </a:cubicBezTo>
                <a:cubicBezTo>
                  <a:pt x="950802" y="1618785"/>
                  <a:pt x="1269520" y="1796106"/>
                  <a:pt x="1630272" y="1785787"/>
                </a:cubicBezTo>
                <a:cubicBezTo>
                  <a:pt x="1531678" y="1729610"/>
                  <a:pt x="1417413" y="1726553"/>
                  <a:pt x="1312320" y="1687191"/>
                </a:cubicBezTo>
                <a:cubicBezTo>
                  <a:pt x="1386841" y="1657765"/>
                  <a:pt x="1456775" y="1688337"/>
                  <a:pt x="1527473" y="1705153"/>
                </a:cubicBezTo>
                <a:cubicBezTo>
                  <a:pt x="1586707" y="1718909"/>
                  <a:pt x="1640210" y="1721203"/>
                  <a:pt x="1646706" y="1639040"/>
                </a:cubicBezTo>
                <a:cubicBezTo>
                  <a:pt x="1644413" y="1633690"/>
                  <a:pt x="1644794" y="1626812"/>
                  <a:pt x="1645178" y="1620315"/>
                </a:cubicBezTo>
                <a:cubicBezTo>
                  <a:pt x="1625304" y="1586303"/>
                  <a:pt x="1594350" y="1568725"/>
                  <a:pt x="1557663" y="1558787"/>
                </a:cubicBezTo>
                <a:cubicBezTo>
                  <a:pt x="1535498" y="1552672"/>
                  <a:pt x="1506073" y="1543500"/>
                  <a:pt x="1506454" y="1519044"/>
                </a:cubicBezTo>
                <a:cubicBezTo>
                  <a:pt x="1507601" y="1428472"/>
                  <a:pt x="1436904" y="1402104"/>
                  <a:pt x="1366204" y="1375735"/>
                </a:cubicBezTo>
                <a:cubicBezTo>
                  <a:pt x="1405566" y="1330641"/>
                  <a:pt x="1436520" y="1363888"/>
                  <a:pt x="1466329" y="1360450"/>
                </a:cubicBezTo>
                <a:cubicBezTo>
                  <a:pt x="1485819" y="1358157"/>
                  <a:pt x="1503397" y="1353953"/>
                  <a:pt x="1503397" y="1330641"/>
                </a:cubicBezTo>
                <a:cubicBezTo>
                  <a:pt x="1503779" y="1311151"/>
                  <a:pt x="1494607" y="1288985"/>
                  <a:pt x="1475501" y="1288604"/>
                </a:cubicBezTo>
                <a:cubicBezTo>
                  <a:pt x="1355885" y="1285163"/>
                  <a:pt x="1289773" y="1159817"/>
                  <a:pt x="1165573" y="1159435"/>
                </a:cubicBezTo>
                <a:cubicBezTo>
                  <a:pt x="1091435" y="1159435"/>
                  <a:pt x="1204170" y="1088738"/>
                  <a:pt x="1141498" y="1059311"/>
                </a:cubicBezTo>
                <a:cubicBezTo>
                  <a:pt x="1127739" y="1052814"/>
                  <a:pt x="1177420" y="1042879"/>
                  <a:pt x="1199585" y="1044407"/>
                </a:cubicBezTo>
                <a:cubicBezTo>
                  <a:pt x="1221367" y="1045935"/>
                  <a:pt x="1240857" y="1064661"/>
                  <a:pt x="1267226" y="1051286"/>
                </a:cubicBezTo>
                <a:cubicBezTo>
                  <a:pt x="1281748" y="1003517"/>
                  <a:pt x="1244298" y="985938"/>
                  <a:pt x="1213342" y="972561"/>
                </a:cubicBezTo>
                <a:cubicBezTo>
                  <a:pt x="1141879" y="941607"/>
                  <a:pt x="1072327" y="904157"/>
                  <a:pt x="993986" y="893073"/>
                </a:cubicBezTo>
                <a:cubicBezTo>
                  <a:pt x="966089" y="889252"/>
                  <a:pt x="1034111" y="838042"/>
                  <a:pt x="1047486" y="820083"/>
                </a:cubicBezTo>
                <a:cubicBezTo>
                  <a:pt x="732209" y="631299"/>
                  <a:pt x="353112" y="640852"/>
                  <a:pt x="0" y="488371"/>
                </a:cubicBezTo>
                <a:cubicBezTo>
                  <a:pt x="77960" y="458564"/>
                  <a:pt x="135284" y="480346"/>
                  <a:pt x="188403" y="484933"/>
                </a:cubicBezTo>
                <a:cubicBezTo>
                  <a:pt x="321009" y="496396"/>
                  <a:pt x="452090" y="520090"/>
                  <a:pt x="584315" y="534230"/>
                </a:cubicBezTo>
                <a:cubicBezTo>
                  <a:pt x="649281" y="541108"/>
                  <a:pt x="709662" y="567096"/>
                  <a:pt x="782271" y="525824"/>
                </a:cubicBezTo>
                <a:cubicBezTo>
                  <a:pt x="830805" y="498308"/>
                  <a:pt x="908383" y="528115"/>
                  <a:pt x="967998" y="552574"/>
                </a:cubicBezTo>
                <a:cubicBezTo>
                  <a:pt x="1017296" y="572827"/>
                  <a:pt x="1064301" y="578177"/>
                  <a:pt x="1129651" y="552574"/>
                </a:cubicBezTo>
                <a:cubicBezTo>
                  <a:pt x="1070417" y="536905"/>
                  <a:pt x="1024939" y="523149"/>
                  <a:pt x="978317" y="513593"/>
                </a:cubicBezTo>
                <a:cubicBezTo>
                  <a:pt x="941248" y="505952"/>
                  <a:pt x="1029526" y="474996"/>
                  <a:pt x="1074620" y="478818"/>
                </a:cubicBezTo>
                <a:cubicBezTo>
                  <a:pt x="1137676" y="484168"/>
                  <a:pt x="1102136" y="464296"/>
                  <a:pt x="1091435" y="436781"/>
                </a:cubicBezTo>
                <a:cubicBezTo>
                  <a:pt x="1079970" y="407355"/>
                  <a:pt x="1113982" y="398184"/>
                  <a:pt x="1135383" y="404296"/>
                </a:cubicBezTo>
                <a:cubicBezTo>
                  <a:pt x="1217545" y="428374"/>
                  <a:pt x="1299326" y="385955"/>
                  <a:pt x="1384166" y="420349"/>
                </a:cubicBezTo>
                <a:cubicBezTo>
                  <a:pt x="1362764" y="335509"/>
                  <a:pt x="1316523" y="298440"/>
                  <a:pt x="1219839" y="286593"/>
                </a:cubicBezTo>
                <a:cubicBezTo>
                  <a:pt x="1183533" y="282009"/>
                  <a:pt x="1145701" y="288887"/>
                  <a:pt x="1114364" y="264428"/>
                </a:cubicBezTo>
                <a:cubicBezTo>
                  <a:pt x="1096402" y="250290"/>
                  <a:pt x="1076148" y="233474"/>
                  <a:pt x="1090289" y="207487"/>
                </a:cubicBezTo>
                <a:cubicBezTo>
                  <a:pt x="1100223" y="189144"/>
                  <a:pt x="1121626" y="189144"/>
                  <a:pt x="1139204" y="195259"/>
                </a:cubicBezTo>
                <a:cubicBezTo>
                  <a:pt x="1217929" y="222393"/>
                  <a:pt x="1300091" y="232328"/>
                  <a:pt x="1382254" y="242265"/>
                </a:cubicBezTo>
                <a:cubicBezTo>
                  <a:pt x="1394866" y="243793"/>
                  <a:pt x="1409004" y="248762"/>
                  <a:pt x="1423145" y="223537"/>
                </a:cubicBezTo>
                <a:cubicBezTo>
                  <a:pt x="1269520" y="182647"/>
                  <a:pt x="1123536" y="124559"/>
                  <a:pt x="965705" y="102013"/>
                </a:cubicBezTo>
                <a:cubicBezTo>
                  <a:pt x="967998" y="91312"/>
                  <a:pt x="970292" y="80612"/>
                  <a:pt x="972586" y="69912"/>
                </a:cubicBezTo>
                <a:cubicBezTo>
                  <a:pt x="1096020" y="85197"/>
                  <a:pt x="1219457" y="100484"/>
                  <a:pt x="1375376" y="119593"/>
                </a:cubicBezTo>
                <a:cubicBezTo>
                  <a:pt x="1279454" y="58828"/>
                  <a:pt x="1188885" y="79084"/>
                  <a:pt x="1117804" y="25200"/>
                </a:cubicBezTo>
                <a:cubicBezTo>
                  <a:pt x="1131179" y="4755"/>
                  <a:pt x="1147325" y="-405"/>
                  <a:pt x="1164045" y="25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29A26B-3950-348D-DAFF-135E7DCBE1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25473" y="1998925"/>
            <a:ext cx="5541054" cy="2149412"/>
          </a:xfrm>
        </p:spPr>
        <p:txBody>
          <a:bodyPr>
            <a:normAutofit/>
          </a:bodyPr>
          <a:lstStyle/>
          <a:p>
            <a:r>
              <a:rPr lang="en-US" sz="4400"/>
              <a:t>Computer Performance Measurement and Benchmarking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2CED13-DFAF-3DC0-EB8B-9F98604FE1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80419" y="4300833"/>
            <a:ext cx="4431162" cy="1191873"/>
          </a:xfrm>
        </p:spPr>
        <p:txBody>
          <a:bodyPr>
            <a:normAutofit/>
          </a:bodyPr>
          <a:lstStyle/>
          <a:p>
            <a:r>
              <a:rPr lang="en-US" dirty="0"/>
              <a:t>Max Hawkins</a:t>
            </a:r>
          </a:p>
        </p:txBody>
      </p:sp>
    </p:spTree>
    <p:extLst>
      <p:ext uri="{BB962C8B-B14F-4D97-AF65-F5344CB8AC3E}">
        <p14:creationId xmlns:p14="http://schemas.microsoft.com/office/powerpoint/2010/main" val="3717202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8FED6-AAC6-E649-CFCE-0C3262CE0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performance?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7654A2-6676-E3A6-D70F-AF1BBF2334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96448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Making broad generalizations:</a:t>
            </a:r>
          </a:p>
          <a:p>
            <a:r>
              <a:rPr lang="en-US" dirty="0"/>
              <a:t>Hardware architects: Sub-system performance</a:t>
            </a:r>
          </a:p>
          <a:p>
            <a:r>
              <a:rPr lang="en-US" dirty="0"/>
              <a:t>Hardware vendors: Application-agnostic system performance</a:t>
            </a:r>
          </a:p>
          <a:p>
            <a:pPr lvl="1"/>
            <a:r>
              <a:rPr lang="en-US" dirty="0"/>
              <a:t>Memory bandwidth, operation throughput, </a:t>
            </a:r>
            <a:r>
              <a:rPr lang="en-US" dirty="0" err="1"/>
              <a:t>etc</a:t>
            </a:r>
            <a:endParaRPr lang="en-US" dirty="0"/>
          </a:p>
          <a:p>
            <a:pPr lvl="1"/>
            <a:r>
              <a:rPr lang="en-US" dirty="0"/>
              <a:t>If selling specialized systems, can focus on applications (e.g. AI)</a:t>
            </a:r>
          </a:p>
          <a:p>
            <a:r>
              <a:rPr lang="en-US" dirty="0"/>
              <a:t>Application developers: Application performance</a:t>
            </a:r>
          </a:p>
          <a:p>
            <a:pPr lvl="1"/>
            <a:r>
              <a:rPr lang="en-US" dirty="0"/>
              <a:t>Images processed per second, output tokens per second, time to first token</a:t>
            </a:r>
          </a:p>
        </p:txBody>
      </p:sp>
    </p:spTree>
    <p:extLst>
      <p:ext uri="{BB962C8B-B14F-4D97-AF65-F5344CB8AC3E}">
        <p14:creationId xmlns:p14="http://schemas.microsoft.com/office/powerpoint/2010/main" val="23107734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EC95E-63AD-9721-3D45-C5E829BC0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Floating-point Operations per Second (flop/s)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FAF776-7E83-B636-C3A3-6EEEFCD06E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De-facto standard computing performance metric</a:t>
            </a:r>
          </a:p>
          <a:p>
            <a:r>
              <a:rPr lang="en-US" dirty="0"/>
              <a:t>Measures the operation throughput</a:t>
            </a:r>
          </a:p>
          <a:p>
            <a:pPr lvl="1"/>
            <a:r>
              <a:rPr lang="en-US" dirty="0"/>
              <a:t>Has integer (</a:t>
            </a:r>
            <a:r>
              <a:rPr lang="en-US" dirty="0" err="1"/>
              <a:t>iop</a:t>
            </a:r>
            <a:r>
              <a:rPr lang="en-US" dirty="0"/>
              <a:t>/s), posit (pop/s), and generic (op/s) version</a:t>
            </a:r>
          </a:p>
          <a:p>
            <a:pPr lvl="1"/>
            <a:r>
              <a:rPr lang="en-US" dirty="0"/>
              <a:t>Alternative: Instructions per second</a:t>
            </a:r>
          </a:p>
          <a:p>
            <a:endParaRPr lang="en-US" dirty="0"/>
          </a:p>
          <a:p>
            <a:r>
              <a:rPr lang="en-US" dirty="0"/>
              <a:t>Unit: a quantity chosen as a standard in terms of which other quantities may be expressed</a:t>
            </a:r>
          </a:p>
          <a:p>
            <a:pPr lvl="1"/>
            <a:r>
              <a:rPr lang="en-US" dirty="0"/>
              <a:t>E.g. flop, operation, instruction, meter, second, flop/s, bit/s, </a:t>
            </a:r>
            <a:r>
              <a:rPr lang="en-US" dirty="0" err="1"/>
              <a:t>etc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36290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87BE7-1950-9C0D-EC9F-010F6D2E54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Exascale vs Exaflop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4A5CDC-D6A5-1320-3CFC-6BBAB2A9A8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Frontier is an exaflop computer</a:t>
            </a:r>
          </a:p>
          <a:p>
            <a:pPr lvl="1"/>
            <a:r>
              <a:rPr lang="en-US" dirty="0"/>
              <a:t>Can perform &gt; 1*10^18 flops per second (FP64 with HPL)</a:t>
            </a:r>
          </a:p>
          <a:p>
            <a:r>
              <a:rPr lang="en-US" dirty="0"/>
              <a:t>Is Frontier an exascale computer?</a:t>
            </a:r>
          </a:p>
          <a:p>
            <a:pPr lvl="1"/>
            <a:r>
              <a:rPr lang="en-US" dirty="0"/>
              <a:t>Exascale = Exaflop?</a:t>
            </a:r>
          </a:p>
          <a:p>
            <a:r>
              <a:rPr lang="en-US" dirty="0"/>
              <a:t>Memory?</a:t>
            </a:r>
          </a:p>
          <a:p>
            <a:r>
              <a:rPr lang="en-US" dirty="0"/>
              <a:t>Network?</a:t>
            </a:r>
          </a:p>
        </p:txBody>
      </p:sp>
      <p:pic>
        <p:nvPicPr>
          <p:cNvPr id="5" name="Picture 4" descr="A graph of a graph showing the number of data&#10;&#10;AI-generated content may be incorrect.">
            <a:extLst>
              <a:ext uri="{FF2B5EF4-FFF2-40B4-BE49-F238E27FC236}">
                <a16:creationId xmlns:a16="http://schemas.microsoft.com/office/drawing/2014/main" id="{2BEC3365-92FC-7085-50B4-DC8A773FE3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0500" y="3365500"/>
            <a:ext cx="6921500" cy="34925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4A6C191-0EF1-645C-DFDD-65F9683BE2B2}"/>
              </a:ext>
            </a:extLst>
          </p:cNvPr>
          <p:cNvSpPr txBox="1"/>
          <p:nvPr/>
        </p:nvSpPr>
        <p:spPr>
          <a:xfrm>
            <a:off x="0" y="6492875"/>
            <a:ext cx="44604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Source: https://</a:t>
            </a:r>
            <a:r>
              <a:rPr lang="en-US" sz="1400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arxiv.org</a:t>
            </a:r>
            <a:r>
              <a:rPr lang="en-US" sz="14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/pdf/2403.14123</a:t>
            </a:r>
          </a:p>
        </p:txBody>
      </p:sp>
    </p:spTree>
    <p:extLst>
      <p:ext uri="{BB962C8B-B14F-4D97-AF65-F5344CB8AC3E}">
        <p14:creationId xmlns:p14="http://schemas.microsoft.com/office/powerpoint/2010/main" val="24116713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706D6-E77C-017A-7046-90D7D7677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even is a flop?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E69AB1-D636-7071-BDB3-A463D24801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Historically, IEEE-754 FP64 multiplies and adds</a:t>
            </a:r>
          </a:p>
          <a:p>
            <a:pPr lvl="1"/>
            <a:r>
              <a:rPr lang="en-US" dirty="0"/>
              <a:t>A narrow but concrete definition…with decreasing prevalence</a:t>
            </a:r>
          </a:p>
          <a:p>
            <a:r>
              <a:rPr lang="en-US" dirty="0"/>
              <a:t>Low-precision data types proliferated</a:t>
            </a:r>
          </a:p>
          <a:p>
            <a:pPr lvl="1"/>
            <a:r>
              <a:rPr lang="en-US" dirty="0"/>
              <a:t>FP32, 24, 16, 8, 6, 4, 2, 1, …</a:t>
            </a:r>
          </a:p>
          <a:p>
            <a:pPr lvl="1"/>
            <a:r>
              <a:rPr lang="en-US" dirty="0"/>
              <a:t>Quantized AI models</a:t>
            </a:r>
          </a:p>
          <a:p>
            <a:r>
              <a:rPr lang="en-US" dirty="0"/>
              <a:t>Operations</a:t>
            </a:r>
          </a:p>
          <a:p>
            <a:pPr lvl="1"/>
            <a:r>
              <a:rPr lang="en-US" dirty="0"/>
              <a:t>Just multiplies and adds? Divides? </a:t>
            </a:r>
          </a:p>
          <a:p>
            <a:pPr lvl="1"/>
            <a:r>
              <a:rPr lang="en-US" dirty="0"/>
              <a:t>Systolic array (tensor core/TPU) depth effect</a:t>
            </a:r>
          </a:p>
          <a:p>
            <a:r>
              <a:rPr lang="en-US" dirty="0"/>
              <a:t>Sparsity</a:t>
            </a:r>
          </a:p>
          <a:p>
            <a:r>
              <a:rPr lang="en-US" dirty="0"/>
              <a:t>Redundant encodings</a:t>
            </a:r>
          </a:p>
          <a:p>
            <a:r>
              <a:rPr lang="en-US" dirty="0"/>
              <a:t>Emulation</a:t>
            </a:r>
          </a:p>
          <a:p>
            <a:pPr lvl="1"/>
            <a:r>
              <a:rPr lang="en-US" dirty="0"/>
              <a:t>Ozaki scheme – performing FP64* arithmetic with Int8 operations</a:t>
            </a:r>
          </a:p>
        </p:txBody>
      </p:sp>
    </p:spTree>
    <p:extLst>
      <p:ext uri="{BB962C8B-B14F-4D97-AF65-F5344CB8AC3E}">
        <p14:creationId xmlns:p14="http://schemas.microsoft.com/office/powerpoint/2010/main" val="36781721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8DF33-029F-A8F1-363A-7CBE380287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Ozaki Scheme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8A91747-5AAA-1B99-BF02-45F2D061C8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748" y="1652346"/>
            <a:ext cx="5263383" cy="4697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Literature Review] Performance Enhancement of the Ozaki Scheme on Integer  Matrix Multiplication Unit">
            <a:extLst>
              <a:ext uri="{FF2B5EF4-FFF2-40B4-BE49-F238E27FC236}">
                <a16:creationId xmlns:a16="http://schemas.microsoft.com/office/drawing/2014/main" id="{3CEEBB62-1A34-0B1E-F67E-55B4F07879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7461" y="2215042"/>
            <a:ext cx="6334539" cy="2655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363AD41-09E6-5A10-7396-C5526C6526AD}"/>
              </a:ext>
            </a:extLst>
          </p:cNvPr>
          <p:cNvSpPr txBox="1"/>
          <p:nvPr/>
        </p:nvSpPr>
        <p:spPr>
          <a:xfrm>
            <a:off x="7009948" y="6488668"/>
            <a:ext cx="44659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Source: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https://arxiv.org/abs/2409.13313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06861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2D754-BEA4-1DE8-8781-E27B20976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Benchmarks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A1B335-972B-F653-B554-19A50EA79D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HPL – Dense linear system solver in FP64</a:t>
            </a:r>
          </a:p>
          <a:p>
            <a:pPr lvl="1"/>
            <a:r>
              <a:rPr lang="en-US" dirty="0"/>
              <a:t>Favors dense </a:t>
            </a:r>
            <a:r>
              <a:rPr lang="en-US" dirty="0" err="1"/>
              <a:t>matmuls</a:t>
            </a:r>
            <a:r>
              <a:rPr lang="en-US" dirty="0"/>
              <a:t> – tensor cores/TPUs/</a:t>
            </a:r>
            <a:r>
              <a:rPr lang="en-US" dirty="0" err="1"/>
              <a:t>etc</a:t>
            </a:r>
            <a:endParaRPr lang="en-US" dirty="0"/>
          </a:p>
          <a:p>
            <a:pPr lvl="1"/>
            <a:r>
              <a:rPr lang="en-US" dirty="0">
                <a:hlinkClick r:id="rId2"/>
              </a:rPr>
              <a:t>https://www.netlib.org/benchmark/hpl/</a:t>
            </a:r>
            <a:endParaRPr lang="en-US" dirty="0"/>
          </a:p>
          <a:p>
            <a:r>
              <a:rPr lang="en-US" dirty="0"/>
              <a:t>HPCG – Sparse iterative solver in FP64</a:t>
            </a:r>
          </a:p>
          <a:p>
            <a:pPr lvl="1"/>
            <a:r>
              <a:rPr lang="en-US" dirty="0">
                <a:hlinkClick r:id="rId3"/>
              </a:rPr>
              <a:t>https://github.com/hpcg-benchmark/hpcg</a:t>
            </a:r>
            <a:endParaRPr lang="en-US" dirty="0"/>
          </a:p>
          <a:p>
            <a:r>
              <a:rPr lang="en-US" dirty="0" err="1"/>
              <a:t>MLPerf</a:t>
            </a:r>
            <a:r>
              <a:rPr lang="en-US" dirty="0"/>
              <a:t> – Machine-learning inference</a:t>
            </a:r>
          </a:p>
          <a:p>
            <a:pPr lvl="1"/>
            <a:r>
              <a:rPr lang="en-US" dirty="0">
                <a:hlinkClick r:id="rId4"/>
              </a:rPr>
              <a:t>https://arxiv.org/pdf/1911.02549</a:t>
            </a: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12652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8FC9E-1082-E31F-9B5B-D71D9C24A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Lists (and bragging rights)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42937A-4DE2-4104-2762-43A71671DB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Top500</a:t>
            </a:r>
          </a:p>
          <a:p>
            <a:pPr lvl="1"/>
            <a:r>
              <a:rPr lang="en-US" dirty="0"/>
              <a:t>Uses </a:t>
            </a:r>
            <a:r>
              <a:rPr lang="en-US" dirty="0" err="1"/>
              <a:t>HPLinpack</a:t>
            </a:r>
            <a:endParaRPr lang="en-US" dirty="0"/>
          </a:p>
          <a:p>
            <a:r>
              <a:rPr lang="en-US" dirty="0"/>
              <a:t>Green500</a:t>
            </a:r>
          </a:p>
          <a:p>
            <a:pPr lvl="1"/>
            <a:r>
              <a:rPr lang="en-US" dirty="0"/>
              <a:t>Uses Top500 results normalized by power draw</a:t>
            </a:r>
          </a:p>
          <a:p>
            <a:r>
              <a:rPr lang="en-US" dirty="0"/>
              <a:t>Graph500</a:t>
            </a:r>
          </a:p>
          <a:p>
            <a:pPr lvl="1"/>
            <a:r>
              <a:rPr lang="en-US" dirty="0">
                <a:hlinkClick r:id="rId2"/>
              </a:rPr>
              <a:t>https://graph500.org</a:t>
            </a:r>
            <a:endParaRPr lang="en-US" dirty="0"/>
          </a:p>
          <a:p>
            <a:pPr lvl="1"/>
            <a:r>
              <a:rPr lang="en-US" dirty="0"/>
              <a:t>“Not all workloads are dense </a:t>
            </a:r>
            <a:r>
              <a:rPr lang="en-US" dirty="0" err="1"/>
              <a:t>matmul</a:t>
            </a:r>
            <a:r>
              <a:rPr lang="en-US" dirty="0"/>
              <a:t>” – Someone (probably)</a:t>
            </a:r>
          </a:p>
        </p:txBody>
      </p:sp>
    </p:spTree>
    <p:extLst>
      <p:ext uri="{BB962C8B-B14F-4D97-AF65-F5344CB8AC3E}">
        <p14:creationId xmlns:p14="http://schemas.microsoft.com/office/powerpoint/2010/main" val="23824263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DA8BA-42C5-1772-132D-569CF5567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Top500					Green 500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320D4BC-E689-81EA-91FC-E52B4FC0F5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36016"/>
            <a:ext cx="5076561" cy="4351338"/>
          </a:xfr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5E39E81-6D6A-1BDE-2054-88D52F12CB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0214" y="1836016"/>
            <a:ext cx="5076561" cy="4548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10882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782C9-5A21-95E9-0772-4A9EC8FF9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3" y="741391"/>
            <a:ext cx="3455821" cy="1616203"/>
          </a:xfrm>
        </p:spPr>
        <p:txBody>
          <a:bodyPr anchor="b">
            <a:normAutofit/>
          </a:bodyPr>
          <a:lstStyle/>
          <a:p>
            <a:r>
              <a:rPr lang="en-US" sz="3200"/>
              <a:t>LLM Tokens as Commodities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8B392E-084C-197C-FB30-6795396006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6693" y="2533476"/>
            <a:ext cx="3920594" cy="3447832"/>
          </a:xfrm>
        </p:spPr>
        <p:txBody>
          <a:bodyPr anchor="t">
            <a:normAutofit/>
          </a:bodyPr>
          <a:lstStyle/>
          <a:p>
            <a:r>
              <a:rPr lang="en-US" sz="2000" dirty="0"/>
              <a:t>Financial value: $ per token</a:t>
            </a:r>
          </a:p>
          <a:p>
            <a:r>
              <a:rPr lang="en-US" sz="2000" dirty="0"/>
              <a:t>Throughput: tokens per second</a:t>
            </a:r>
          </a:p>
          <a:p>
            <a:pPr marL="0" indent="0">
              <a:buNone/>
            </a:pPr>
            <a:r>
              <a:rPr lang="en-US" sz="2000" dirty="0">
                <a:sym typeface="Wingdings" pitchFamily="2" charset="2"/>
              </a:rPr>
              <a:t> $ per second</a:t>
            </a:r>
          </a:p>
          <a:p>
            <a:r>
              <a:rPr lang="en-US" sz="2000" dirty="0">
                <a:sym typeface="Wingdings" pitchFamily="2" charset="2"/>
              </a:rPr>
              <a:t>AI factories: Converting electric power to money</a:t>
            </a:r>
          </a:p>
          <a:p>
            <a:pPr lvl="1"/>
            <a:r>
              <a:rPr lang="en-US" sz="2000" dirty="0">
                <a:sym typeface="Wingdings" pitchFamily="2" charset="2"/>
              </a:rPr>
              <a:t>“Computational alchemy”</a:t>
            </a:r>
            <a:endParaRPr lang="en-US" sz="2000" dirty="0"/>
          </a:p>
        </p:txBody>
      </p:sp>
      <p:pic>
        <p:nvPicPr>
          <p:cNvPr id="5" name="Picture 4" descr="A person standing in front of a large screen&#10;&#10;AI-generated content may be incorrect.">
            <a:extLst>
              <a:ext uri="{FF2B5EF4-FFF2-40B4-BE49-F238E27FC236}">
                <a16:creationId xmlns:a16="http://schemas.microsoft.com/office/drawing/2014/main" id="{241A23A4-D7C2-F2F6-C88D-E05C3A478B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7672" y="869930"/>
            <a:ext cx="6389346" cy="5127449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6258F736-B256-8039-9DC6-F4E49A5C5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0B4520A-996E-330C-99DA-69CA4D89E9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C8FA945-E356-695F-18D6-CAD4EF34FE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414596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F879AC3-D4CE-493C-ADC7-06205677F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36F0DFD-0954-464F-BF12-DD2E6F6E0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983504" cy="6858000"/>
          </a:xfrm>
          <a:custGeom>
            <a:avLst/>
            <a:gdLst>
              <a:gd name="connsiteX0" fmla="*/ 0 w 1983504"/>
              <a:gd name="connsiteY0" fmla="*/ 0 h 6858000"/>
              <a:gd name="connsiteX1" fmla="*/ 1376658 w 1983504"/>
              <a:gd name="connsiteY1" fmla="*/ 0 h 6858000"/>
              <a:gd name="connsiteX2" fmla="*/ 1690650 w 1983504"/>
              <a:gd name="connsiteY2" fmla="*/ 110269 h 6858000"/>
              <a:gd name="connsiteX3" fmla="*/ 1645361 w 1983504"/>
              <a:gd name="connsiteY3" fmla="*/ 135168 h 6858000"/>
              <a:gd name="connsiteX4" fmla="*/ 1373640 w 1983504"/>
              <a:gd name="connsiteY4" fmla="*/ 71141 h 6858000"/>
              <a:gd name="connsiteX5" fmla="*/ 1319295 w 1983504"/>
              <a:gd name="connsiteY5" fmla="*/ 88927 h 6858000"/>
              <a:gd name="connsiteX6" fmla="*/ 1346468 w 1983504"/>
              <a:gd name="connsiteY6" fmla="*/ 163625 h 6858000"/>
              <a:gd name="connsiteX7" fmla="*/ 1464213 w 1983504"/>
              <a:gd name="connsiteY7" fmla="*/ 192082 h 6858000"/>
              <a:gd name="connsiteX8" fmla="*/ 1648381 w 1983504"/>
              <a:gd name="connsiteY8" fmla="*/ 373491 h 6858000"/>
              <a:gd name="connsiteX9" fmla="*/ 1370620 w 1983504"/>
              <a:gd name="connsiteY9" fmla="*/ 352148 h 6858000"/>
              <a:gd name="connsiteX10" fmla="*/ 1322314 w 1983504"/>
              <a:gd name="connsiteY10" fmla="*/ 394834 h 6858000"/>
              <a:gd name="connsiteX11" fmla="*/ 1304199 w 1983504"/>
              <a:gd name="connsiteY11" fmla="*/ 451747 h 6858000"/>
              <a:gd name="connsiteX12" fmla="*/ 1222682 w 1983504"/>
              <a:gd name="connsiteY12" fmla="*/ 359262 h 6858000"/>
              <a:gd name="connsiteX13" fmla="*/ 1153242 w 1983504"/>
              <a:gd name="connsiteY13" fmla="*/ 334364 h 6858000"/>
              <a:gd name="connsiteX14" fmla="*/ 1132108 w 1983504"/>
              <a:gd name="connsiteY14" fmla="*/ 416176 h 6858000"/>
              <a:gd name="connsiteX15" fmla="*/ 1195509 w 1983504"/>
              <a:gd name="connsiteY15" fmla="*/ 505101 h 6858000"/>
              <a:gd name="connsiteX16" fmla="*/ 1364582 w 1983504"/>
              <a:gd name="connsiteY16" fmla="*/ 558458 h 6858000"/>
              <a:gd name="connsiteX17" fmla="*/ 1183434 w 1983504"/>
              <a:gd name="connsiteY17" fmla="*/ 558458 h 6858000"/>
              <a:gd name="connsiteX18" fmla="*/ 975114 w 1983504"/>
              <a:gd name="connsiteY18" fmla="*/ 522887 h 6858000"/>
              <a:gd name="connsiteX19" fmla="*/ 754716 w 1983504"/>
              <a:gd name="connsiteY19" fmla="*/ 533558 h 6858000"/>
              <a:gd name="connsiteX20" fmla="*/ 546395 w 1983504"/>
              <a:gd name="connsiteY20" fmla="*/ 462417 h 6858000"/>
              <a:gd name="connsiteX21" fmla="*/ 335056 w 1983504"/>
              <a:gd name="connsiteY21" fmla="*/ 465975 h 6858000"/>
              <a:gd name="connsiteX22" fmla="*/ 1270988 w 1983504"/>
              <a:gd name="connsiteY22" fmla="*/ 910606 h 6858000"/>
              <a:gd name="connsiteX23" fmla="*/ 1225701 w 1983504"/>
              <a:gd name="connsiteY23" fmla="*/ 921277 h 6858000"/>
              <a:gd name="connsiteX24" fmla="*/ 1165318 w 1983504"/>
              <a:gd name="connsiteY24" fmla="*/ 949734 h 6858000"/>
              <a:gd name="connsiteX25" fmla="*/ 1210606 w 1983504"/>
              <a:gd name="connsiteY25" fmla="*/ 1006647 h 6858000"/>
              <a:gd name="connsiteX26" fmla="*/ 1455156 w 1983504"/>
              <a:gd name="connsiteY26" fmla="*/ 1113358 h 6858000"/>
              <a:gd name="connsiteX27" fmla="*/ 1515538 w 1983504"/>
              <a:gd name="connsiteY27" fmla="*/ 1220069 h 6858000"/>
              <a:gd name="connsiteX28" fmla="*/ 1440060 w 1983504"/>
              <a:gd name="connsiteY28" fmla="*/ 1209399 h 6858000"/>
              <a:gd name="connsiteX29" fmla="*/ 1373640 w 1983504"/>
              <a:gd name="connsiteY29" fmla="*/ 1230741 h 6858000"/>
              <a:gd name="connsiteX30" fmla="*/ 1400810 w 1983504"/>
              <a:gd name="connsiteY30" fmla="*/ 1365909 h 6858000"/>
              <a:gd name="connsiteX31" fmla="*/ 1748012 w 1983504"/>
              <a:gd name="connsiteY31" fmla="*/ 1540204 h 6858000"/>
              <a:gd name="connsiteX32" fmla="*/ 1778203 w 1983504"/>
              <a:gd name="connsiteY32" fmla="*/ 1597117 h 6858000"/>
              <a:gd name="connsiteX33" fmla="*/ 1735936 w 1983504"/>
              <a:gd name="connsiteY33" fmla="*/ 1636245 h 6858000"/>
              <a:gd name="connsiteX34" fmla="*/ 1624228 w 1983504"/>
              <a:gd name="connsiteY34" fmla="*/ 1657587 h 6858000"/>
              <a:gd name="connsiteX35" fmla="*/ 1781223 w 1983504"/>
              <a:gd name="connsiteY35" fmla="*/ 1849668 h 6858000"/>
              <a:gd name="connsiteX36" fmla="*/ 1838587 w 1983504"/>
              <a:gd name="connsiteY36" fmla="*/ 1903025 h 6858000"/>
              <a:gd name="connsiteX37" fmla="*/ 1938218 w 1983504"/>
              <a:gd name="connsiteY37" fmla="*/ 1984836 h 6858000"/>
              <a:gd name="connsiteX38" fmla="*/ 1938218 w 1983504"/>
              <a:gd name="connsiteY38" fmla="*/ 2013292 h 6858000"/>
              <a:gd name="connsiteX39" fmla="*/ 1805376 w 1983504"/>
              <a:gd name="connsiteY39" fmla="*/ 2102219 h 6858000"/>
              <a:gd name="connsiteX40" fmla="*/ 1563844 w 1983504"/>
              <a:gd name="connsiteY40" fmla="*/ 2077320 h 6858000"/>
              <a:gd name="connsiteX41" fmla="*/ 1920104 w 1983504"/>
              <a:gd name="connsiteY41" fmla="*/ 2208931 h 6858000"/>
              <a:gd name="connsiteX42" fmla="*/ 766792 w 1983504"/>
              <a:gd name="connsiteY42" fmla="*/ 1892353 h 6858000"/>
              <a:gd name="connsiteX43" fmla="*/ 839252 w 1983504"/>
              <a:gd name="connsiteY43" fmla="*/ 1974165 h 6858000"/>
              <a:gd name="connsiteX44" fmla="*/ 1243816 w 1983504"/>
              <a:gd name="connsiteY44" fmla="*/ 2191146 h 6858000"/>
              <a:gd name="connsiteX45" fmla="*/ 1358543 w 1983504"/>
              <a:gd name="connsiteY45" fmla="*/ 2326314 h 6858000"/>
              <a:gd name="connsiteX46" fmla="*/ 1479310 w 1983504"/>
              <a:gd name="connsiteY46" fmla="*/ 2401012 h 6858000"/>
              <a:gd name="connsiteX47" fmla="*/ 1648381 w 1983504"/>
              <a:gd name="connsiteY47" fmla="*/ 2401012 h 6858000"/>
              <a:gd name="connsiteX48" fmla="*/ 1769146 w 1983504"/>
              <a:gd name="connsiteY48" fmla="*/ 2518395 h 6858000"/>
              <a:gd name="connsiteX49" fmla="*/ 1645361 w 1983504"/>
              <a:gd name="connsiteY49" fmla="*/ 2543294 h 6858000"/>
              <a:gd name="connsiteX50" fmla="*/ 1500444 w 1983504"/>
              <a:gd name="connsiteY50" fmla="*/ 2525509 h 6858000"/>
              <a:gd name="connsiteX51" fmla="*/ 1337410 w 1983504"/>
              <a:gd name="connsiteY51" fmla="*/ 2564636 h 6858000"/>
              <a:gd name="connsiteX52" fmla="*/ 1186452 w 1983504"/>
              <a:gd name="connsiteY52" fmla="*/ 2532623 h 6858000"/>
              <a:gd name="connsiteX53" fmla="*/ 1005304 w 1983504"/>
              <a:gd name="connsiteY53" fmla="*/ 2553965 h 6858000"/>
              <a:gd name="connsiteX54" fmla="*/ 947940 w 1983504"/>
              <a:gd name="connsiteY54" fmla="*/ 2692689 h 6858000"/>
              <a:gd name="connsiteX55" fmla="*/ 929826 w 1983504"/>
              <a:gd name="connsiteY55" fmla="*/ 2703362 h 6858000"/>
              <a:gd name="connsiteX56" fmla="*/ 594701 w 1983504"/>
              <a:gd name="connsiteY56" fmla="*/ 2923898 h 6858000"/>
              <a:gd name="connsiteX57" fmla="*/ 501108 w 1983504"/>
              <a:gd name="connsiteY57" fmla="*/ 2941684 h 6858000"/>
              <a:gd name="connsiteX58" fmla="*/ 1053610 w 1983504"/>
              <a:gd name="connsiteY58" fmla="*/ 3329402 h 6858000"/>
              <a:gd name="connsiteX59" fmla="*/ 682256 w 1983504"/>
              <a:gd name="connsiteY59" fmla="*/ 3229805 h 6858000"/>
              <a:gd name="connsiteX60" fmla="*/ 630932 w 1983504"/>
              <a:gd name="connsiteY60" fmla="*/ 3393429 h 6858000"/>
              <a:gd name="connsiteX61" fmla="*/ 806041 w 1983504"/>
              <a:gd name="connsiteY61" fmla="*/ 3539269 h 6858000"/>
              <a:gd name="connsiteX62" fmla="*/ 869444 w 1983504"/>
              <a:gd name="connsiteY62" fmla="*/ 3827390 h 6858000"/>
              <a:gd name="connsiteX63" fmla="*/ 839252 w 1983504"/>
              <a:gd name="connsiteY63" fmla="*/ 4090612 h 6858000"/>
              <a:gd name="connsiteX64" fmla="*/ 763774 w 1983504"/>
              <a:gd name="connsiteY64" fmla="*/ 4172424 h 6858000"/>
              <a:gd name="connsiteX65" fmla="*/ 655085 w 1983504"/>
              <a:gd name="connsiteY65" fmla="*/ 4321821 h 6858000"/>
              <a:gd name="connsiteX66" fmla="*/ 588662 w 1983504"/>
              <a:gd name="connsiteY66" fmla="*/ 4414305 h 6858000"/>
              <a:gd name="connsiteX67" fmla="*/ 356189 w 1983504"/>
              <a:gd name="connsiteY67" fmla="*/ 4378734 h 6858000"/>
              <a:gd name="connsiteX68" fmla="*/ 667160 w 1983504"/>
              <a:gd name="connsiteY68" fmla="*/ 4613499 h 6858000"/>
              <a:gd name="connsiteX69" fmla="*/ 416573 w 1983504"/>
              <a:gd name="connsiteY69" fmla="*/ 4585042 h 6858000"/>
              <a:gd name="connsiteX70" fmla="*/ 335056 w 1983504"/>
              <a:gd name="connsiteY70" fmla="*/ 4602828 h 6858000"/>
              <a:gd name="connsiteX71" fmla="*/ 380342 w 1983504"/>
              <a:gd name="connsiteY71" fmla="*/ 4677526 h 6858000"/>
              <a:gd name="connsiteX72" fmla="*/ 564510 w 1983504"/>
              <a:gd name="connsiteY72" fmla="*/ 4805580 h 6858000"/>
              <a:gd name="connsiteX73" fmla="*/ 944922 w 1983504"/>
              <a:gd name="connsiteY73" fmla="*/ 5154171 h 6858000"/>
              <a:gd name="connsiteX74" fmla="*/ 576586 w 1983504"/>
              <a:gd name="connsiteY74" fmla="*/ 4994104 h 6858000"/>
              <a:gd name="connsiteX75" fmla="*/ 963036 w 1983504"/>
              <a:gd name="connsiteY75" fmla="*/ 5353367 h 6858000"/>
              <a:gd name="connsiteX76" fmla="*/ 1047572 w 1983504"/>
              <a:gd name="connsiteY76" fmla="*/ 5474306 h 6858000"/>
              <a:gd name="connsiteX77" fmla="*/ 1222682 w 1983504"/>
              <a:gd name="connsiteY77" fmla="*/ 5769542 h 6858000"/>
              <a:gd name="connsiteX78" fmla="*/ 1213626 w 1983504"/>
              <a:gd name="connsiteY78" fmla="*/ 5801555 h 6858000"/>
              <a:gd name="connsiteX79" fmla="*/ 1014361 w 1983504"/>
              <a:gd name="connsiteY79" fmla="*/ 5755314 h 6858000"/>
              <a:gd name="connsiteX80" fmla="*/ 1274008 w 1983504"/>
              <a:gd name="connsiteY80" fmla="*/ 6004307 h 6858000"/>
              <a:gd name="connsiteX81" fmla="*/ 1542711 w 1983504"/>
              <a:gd name="connsiteY81" fmla="*/ 6196388 h 6858000"/>
              <a:gd name="connsiteX82" fmla="*/ 1352504 w 1983504"/>
              <a:gd name="connsiteY82" fmla="*/ 6167932 h 6858000"/>
              <a:gd name="connsiteX83" fmla="*/ 1089840 w 1983504"/>
              <a:gd name="connsiteY83" fmla="*/ 6057663 h 6858000"/>
              <a:gd name="connsiteX84" fmla="*/ 999266 w 1983504"/>
              <a:gd name="connsiteY84" fmla="*/ 6100347 h 6858000"/>
              <a:gd name="connsiteX85" fmla="*/ 1246836 w 1983504"/>
              <a:gd name="connsiteY85" fmla="*/ 6281757 h 6858000"/>
              <a:gd name="connsiteX86" fmla="*/ 1388735 w 1983504"/>
              <a:gd name="connsiteY86" fmla="*/ 6367127 h 6858000"/>
              <a:gd name="connsiteX87" fmla="*/ 1446099 w 1983504"/>
              <a:gd name="connsiteY87" fmla="*/ 6431153 h 6858000"/>
              <a:gd name="connsiteX88" fmla="*/ 1609132 w 1983504"/>
              <a:gd name="connsiteY88" fmla="*/ 6658805 h 6858000"/>
              <a:gd name="connsiteX89" fmla="*/ 1983504 w 1983504"/>
              <a:gd name="connsiteY89" fmla="*/ 6858000 h 6858000"/>
              <a:gd name="connsiteX90" fmla="*/ 0 w 1983504"/>
              <a:gd name="connsiteY9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1983504" h="6858000">
                <a:moveTo>
                  <a:pt x="0" y="0"/>
                </a:moveTo>
                <a:lnTo>
                  <a:pt x="1376658" y="0"/>
                </a:lnTo>
                <a:cubicBezTo>
                  <a:pt x="1482328" y="35571"/>
                  <a:pt x="1584980" y="78255"/>
                  <a:pt x="1690650" y="110269"/>
                </a:cubicBezTo>
                <a:cubicBezTo>
                  <a:pt x="1675553" y="145839"/>
                  <a:pt x="1660458" y="138725"/>
                  <a:pt x="1645361" y="135168"/>
                </a:cubicBezTo>
                <a:cubicBezTo>
                  <a:pt x="1554788" y="120941"/>
                  <a:pt x="1461194" y="110269"/>
                  <a:pt x="1373640" y="71141"/>
                </a:cubicBezTo>
                <a:cubicBezTo>
                  <a:pt x="1352504" y="64027"/>
                  <a:pt x="1328352" y="64027"/>
                  <a:pt x="1319295" y="88927"/>
                </a:cubicBezTo>
                <a:cubicBezTo>
                  <a:pt x="1304199" y="124497"/>
                  <a:pt x="1325332" y="145839"/>
                  <a:pt x="1346468" y="163625"/>
                </a:cubicBezTo>
                <a:cubicBezTo>
                  <a:pt x="1382696" y="195638"/>
                  <a:pt x="1424964" y="188525"/>
                  <a:pt x="1464213" y="192082"/>
                </a:cubicBezTo>
                <a:cubicBezTo>
                  <a:pt x="1572902" y="209867"/>
                  <a:pt x="1624228" y="259665"/>
                  <a:pt x="1648381" y="373491"/>
                </a:cubicBezTo>
                <a:cubicBezTo>
                  <a:pt x="1554788" y="327250"/>
                  <a:pt x="1461194" y="384162"/>
                  <a:pt x="1370620" y="352148"/>
                </a:cubicBezTo>
                <a:cubicBezTo>
                  <a:pt x="1346468" y="345034"/>
                  <a:pt x="1310237" y="355706"/>
                  <a:pt x="1322314" y="394834"/>
                </a:cubicBezTo>
                <a:cubicBezTo>
                  <a:pt x="1334390" y="430405"/>
                  <a:pt x="1373640" y="458860"/>
                  <a:pt x="1304199" y="451747"/>
                </a:cubicBezTo>
                <a:cubicBezTo>
                  <a:pt x="1252873" y="448189"/>
                  <a:pt x="1237778" y="405504"/>
                  <a:pt x="1222682" y="359262"/>
                </a:cubicBezTo>
                <a:cubicBezTo>
                  <a:pt x="1210606" y="334364"/>
                  <a:pt x="1177395" y="320135"/>
                  <a:pt x="1153242" y="334364"/>
                </a:cubicBezTo>
                <a:cubicBezTo>
                  <a:pt x="1123051" y="348592"/>
                  <a:pt x="1132108" y="387720"/>
                  <a:pt x="1132108" y="416176"/>
                </a:cubicBezTo>
                <a:cubicBezTo>
                  <a:pt x="1129088" y="469532"/>
                  <a:pt x="1153242" y="494431"/>
                  <a:pt x="1195509" y="505101"/>
                </a:cubicBezTo>
                <a:cubicBezTo>
                  <a:pt x="1246836" y="519330"/>
                  <a:pt x="1298160" y="537116"/>
                  <a:pt x="1364582" y="558458"/>
                </a:cubicBezTo>
                <a:cubicBezTo>
                  <a:pt x="1292122" y="594028"/>
                  <a:pt x="1237778" y="586915"/>
                  <a:pt x="1183434" y="558458"/>
                </a:cubicBezTo>
                <a:cubicBezTo>
                  <a:pt x="1117012" y="526444"/>
                  <a:pt x="1029458" y="483759"/>
                  <a:pt x="975114" y="522887"/>
                </a:cubicBezTo>
                <a:cubicBezTo>
                  <a:pt x="893597" y="579800"/>
                  <a:pt x="827176" y="544229"/>
                  <a:pt x="754716" y="533558"/>
                </a:cubicBezTo>
                <a:cubicBezTo>
                  <a:pt x="603758" y="512216"/>
                  <a:pt x="697352" y="480203"/>
                  <a:pt x="546395" y="462417"/>
                </a:cubicBezTo>
                <a:cubicBezTo>
                  <a:pt x="486012" y="455303"/>
                  <a:pt x="422610" y="426847"/>
                  <a:pt x="335056" y="465975"/>
                </a:cubicBezTo>
                <a:cubicBezTo>
                  <a:pt x="730563" y="672284"/>
                  <a:pt x="917750" y="658055"/>
                  <a:pt x="1270988" y="910606"/>
                </a:cubicBezTo>
                <a:cubicBezTo>
                  <a:pt x="1255893" y="935506"/>
                  <a:pt x="1240798" y="924835"/>
                  <a:pt x="1225701" y="921277"/>
                </a:cubicBezTo>
                <a:cubicBezTo>
                  <a:pt x="1201548" y="917720"/>
                  <a:pt x="1171356" y="903491"/>
                  <a:pt x="1165318" y="949734"/>
                </a:cubicBezTo>
                <a:cubicBezTo>
                  <a:pt x="1162298" y="985305"/>
                  <a:pt x="1180415" y="1003089"/>
                  <a:pt x="1210606" y="1006647"/>
                </a:cubicBezTo>
                <a:cubicBezTo>
                  <a:pt x="1298160" y="1020875"/>
                  <a:pt x="1376658" y="1070674"/>
                  <a:pt x="1455156" y="1113358"/>
                </a:cubicBezTo>
                <a:cubicBezTo>
                  <a:pt x="1491385" y="1131144"/>
                  <a:pt x="1530634" y="1156043"/>
                  <a:pt x="1515538" y="1220069"/>
                </a:cubicBezTo>
                <a:cubicBezTo>
                  <a:pt x="1485348" y="1237855"/>
                  <a:pt x="1464213" y="1212955"/>
                  <a:pt x="1440060" y="1209399"/>
                </a:cubicBezTo>
                <a:cubicBezTo>
                  <a:pt x="1415907" y="1205842"/>
                  <a:pt x="1358543" y="1220069"/>
                  <a:pt x="1373640" y="1230741"/>
                </a:cubicBezTo>
                <a:cubicBezTo>
                  <a:pt x="1443080" y="1269868"/>
                  <a:pt x="1316276" y="1365909"/>
                  <a:pt x="1400810" y="1365909"/>
                </a:cubicBezTo>
                <a:cubicBezTo>
                  <a:pt x="1539691" y="1365909"/>
                  <a:pt x="1615170" y="1536647"/>
                  <a:pt x="1748012" y="1540204"/>
                </a:cubicBezTo>
                <a:cubicBezTo>
                  <a:pt x="1769146" y="1540204"/>
                  <a:pt x="1778203" y="1572219"/>
                  <a:pt x="1778203" y="1597117"/>
                </a:cubicBezTo>
                <a:cubicBezTo>
                  <a:pt x="1778203" y="1629132"/>
                  <a:pt x="1757070" y="1632688"/>
                  <a:pt x="1735936" y="1636245"/>
                </a:cubicBezTo>
                <a:cubicBezTo>
                  <a:pt x="1702725" y="1639802"/>
                  <a:pt x="1666496" y="1597117"/>
                  <a:pt x="1624228" y="1657587"/>
                </a:cubicBezTo>
                <a:cubicBezTo>
                  <a:pt x="1702725" y="1693158"/>
                  <a:pt x="1784242" y="1728729"/>
                  <a:pt x="1781223" y="1849668"/>
                </a:cubicBezTo>
                <a:cubicBezTo>
                  <a:pt x="1781223" y="1881683"/>
                  <a:pt x="1814434" y="1895910"/>
                  <a:pt x="1838587" y="1903025"/>
                </a:cubicBezTo>
                <a:cubicBezTo>
                  <a:pt x="1880854" y="1917252"/>
                  <a:pt x="1914065" y="1938595"/>
                  <a:pt x="1938218" y="1984836"/>
                </a:cubicBezTo>
                <a:cubicBezTo>
                  <a:pt x="1938218" y="1995507"/>
                  <a:pt x="1938218" y="2002622"/>
                  <a:pt x="1938218" y="2013292"/>
                </a:cubicBezTo>
                <a:cubicBezTo>
                  <a:pt x="1932180" y="2123562"/>
                  <a:pt x="1871798" y="2120004"/>
                  <a:pt x="1805376" y="2102219"/>
                </a:cubicBezTo>
                <a:cubicBezTo>
                  <a:pt x="1726878" y="2080877"/>
                  <a:pt x="1648381" y="2038192"/>
                  <a:pt x="1563844" y="2077320"/>
                </a:cubicBezTo>
                <a:cubicBezTo>
                  <a:pt x="1681592" y="2130676"/>
                  <a:pt x="1811414" y="2134233"/>
                  <a:pt x="1920104" y="2208931"/>
                </a:cubicBezTo>
                <a:cubicBezTo>
                  <a:pt x="1515538" y="2223159"/>
                  <a:pt x="1159280" y="1984836"/>
                  <a:pt x="766792" y="1892353"/>
                </a:cubicBezTo>
                <a:cubicBezTo>
                  <a:pt x="778869" y="1952823"/>
                  <a:pt x="812080" y="1967051"/>
                  <a:pt x="839252" y="1974165"/>
                </a:cubicBezTo>
                <a:cubicBezTo>
                  <a:pt x="984170" y="2020407"/>
                  <a:pt x="1110974" y="2112891"/>
                  <a:pt x="1243816" y="2191146"/>
                </a:cubicBezTo>
                <a:cubicBezTo>
                  <a:pt x="1298160" y="2223159"/>
                  <a:pt x="1337410" y="2258731"/>
                  <a:pt x="1358543" y="2326314"/>
                </a:cubicBezTo>
                <a:cubicBezTo>
                  <a:pt x="1376658" y="2390340"/>
                  <a:pt x="1412888" y="2418796"/>
                  <a:pt x="1479310" y="2401012"/>
                </a:cubicBezTo>
                <a:cubicBezTo>
                  <a:pt x="1533654" y="2386784"/>
                  <a:pt x="1591018" y="2393898"/>
                  <a:pt x="1648381" y="2401012"/>
                </a:cubicBezTo>
                <a:cubicBezTo>
                  <a:pt x="1711782" y="2408126"/>
                  <a:pt x="1784242" y="2479267"/>
                  <a:pt x="1769146" y="2518395"/>
                </a:cubicBezTo>
                <a:cubicBezTo>
                  <a:pt x="1738956" y="2582422"/>
                  <a:pt x="1687630" y="2550408"/>
                  <a:pt x="1645361" y="2543294"/>
                </a:cubicBezTo>
                <a:cubicBezTo>
                  <a:pt x="1594036" y="2536181"/>
                  <a:pt x="1500444" y="2518395"/>
                  <a:pt x="1500444" y="2525509"/>
                </a:cubicBezTo>
                <a:cubicBezTo>
                  <a:pt x="1467232" y="2685576"/>
                  <a:pt x="1391754" y="2564636"/>
                  <a:pt x="1337410" y="2564636"/>
                </a:cubicBezTo>
                <a:cubicBezTo>
                  <a:pt x="1286084" y="2564636"/>
                  <a:pt x="1234759" y="2546851"/>
                  <a:pt x="1186452" y="2532623"/>
                </a:cubicBezTo>
                <a:cubicBezTo>
                  <a:pt x="1123051" y="2514837"/>
                  <a:pt x="1065688" y="2546851"/>
                  <a:pt x="1005304" y="2553965"/>
                </a:cubicBezTo>
                <a:cubicBezTo>
                  <a:pt x="950960" y="2561080"/>
                  <a:pt x="981150" y="2653563"/>
                  <a:pt x="947940" y="2692689"/>
                </a:cubicBezTo>
                <a:cubicBezTo>
                  <a:pt x="941903" y="2703362"/>
                  <a:pt x="935864" y="2703362"/>
                  <a:pt x="929826" y="2703362"/>
                </a:cubicBezTo>
                <a:cubicBezTo>
                  <a:pt x="911711" y="2980812"/>
                  <a:pt x="594701" y="2913227"/>
                  <a:pt x="594701" y="2923898"/>
                </a:cubicBezTo>
                <a:cubicBezTo>
                  <a:pt x="567529" y="2941684"/>
                  <a:pt x="534318" y="2899000"/>
                  <a:pt x="501108" y="2941684"/>
                </a:cubicBezTo>
                <a:cubicBezTo>
                  <a:pt x="643007" y="3137322"/>
                  <a:pt x="860386" y="3183563"/>
                  <a:pt x="1053610" y="3329402"/>
                </a:cubicBezTo>
                <a:cubicBezTo>
                  <a:pt x="893597" y="3379202"/>
                  <a:pt x="800002" y="3208463"/>
                  <a:pt x="682256" y="3229805"/>
                </a:cubicBezTo>
                <a:cubicBezTo>
                  <a:pt x="624893" y="3283162"/>
                  <a:pt x="796984" y="3368530"/>
                  <a:pt x="630932" y="3393429"/>
                </a:cubicBezTo>
                <a:cubicBezTo>
                  <a:pt x="703390" y="3439672"/>
                  <a:pt x="754716" y="3485914"/>
                  <a:pt x="806041" y="3539269"/>
                </a:cubicBezTo>
                <a:cubicBezTo>
                  <a:pt x="893597" y="3635309"/>
                  <a:pt x="911711" y="3699337"/>
                  <a:pt x="869444" y="3827390"/>
                </a:cubicBezTo>
                <a:cubicBezTo>
                  <a:pt x="842270" y="3912759"/>
                  <a:pt x="803022" y="3991015"/>
                  <a:pt x="839252" y="4090612"/>
                </a:cubicBezTo>
                <a:cubicBezTo>
                  <a:pt x="863405" y="4158196"/>
                  <a:pt x="854347" y="4204438"/>
                  <a:pt x="763774" y="4172424"/>
                </a:cubicBezTo>
                <a:cubicBezTo>
                  <a:pt x="667160" y="4140411"/>
                  <a:pt x="630932" y="4200882"/>
                  <a:pt x="655085" y="4321821"/>
                </a:cubicBezTo>
                <a:cubicBezTo>
                  <a:pt x="670179" y="4400076"/>
                  <a:pt x="655085" y="4424975"/>
                  <a:pt x="588662" y="4414305"/>
                </a:cubicBezTo>
                <a:cubicBezTo>
                  <a:pt x="516204" y="4403633"/>
                  <a:pt x="446764" y="4353835"/>
                  <a:pt x="356189" y="4378734"/>
                </a:cubicBezTo>
                <a:cubicBezTo>
                  <a:pt x="428648" y="4521016"/>
                  <a:pt x="582626" y="4478331"/>
                  <a:pt x="667160" y="4613499"/>
                </a:cubicBezTo>
                <a:cubicBezTo>
                  <a:pt x="567529" y="4613499"/>
                  <a:pt x="489031" y="4613499"/>
                  <a:pt x="416573" y="4585042"/>
                </a:cubicBezTo>
                <a:cubicBezTo>
                  <a:pt x="386381" y="4574373"/>
                  <a:pt x="353170" y="4560144"/>
                  <a:pt x="335056" y="4602828"/>
                </a:cubicBezTo>
                <a:cubicBezTo>
                  <a:pt x="313920" y="4652628"/>
                  <a:pt x="356189" y="4670412"/>
                  <a:pt x="380342" y="4677526"/>
                </a:cubicBezTo>
                <a:cubicBezTo>
                  <a:pt x="449784" y="4702425"/>
                  <a:pt x="504126" y="4759339"/>
                  <a:pt x="564510" y="4805580"/>
                </a:cubicBezTo>
                <a:cubicBezTo>
                  <a:pt x="694332" y="4905177"/>
                  <a:pt x="836233" y="4990547"/>
                  <a:pt x="944922" y="5154171"/>
                </a:cubicBezTo>
                <a:cubicBezTo>
                  <a:pt x="809060" y="5111487"/>
                  <a:pt x="706410" y="5011889"/>
                  <a:pt x="576586" y="4994104"/>
                </a:cubicBezTo>
                <a:cubicBezTo>
                  <a:pt x="688296" y="5143500"/>
                  <a:pt x="830194" y="5243097"/>
                  <a:pt x="963036" y="5353367"/>
                </a:cubicBezTo>
                <a:cubicBezTo>
                  <a:pt x="1002286" y="5385379"/>
                  <a:pt x="1041534" y="5406721"/>
                  <a:pt x="1047572" y="5474306"/>
                </a:cubicBezTo>
                <a:cubicBezTo>
                  <a:pt x="1065688" y="5605917"/>
                  <a:pt x="1113992" y="5712629"/>
                  <a:pt x="1222682" y="5769542"/>
                </a:cubicBezTo>
                <a:cubicBezTo>
                  <a:pt x="1222682" y="5769542"/>
                  <a:pt x="1216644" y="5790884"/>
                  <a:pt x="1213626" y="5801555"/>
                </a:cubicBezTo>
                <a:cubicBezTo>
                  <a:pt x="1147203" y="5805112"/>
                  <a:pt x="1095878" y="5726858"/>
                  <a:pt x="1014361" y="5755314"/>
                </a:cubicBezTo>
                <a:cubicBezTo>
                  <a:pt x="1095878" y="5862025"/>
                  <a:pt x="1162298" y="5954508"/>
                  <a:pt x="1274008" y="6004307"/>
                </a:cubicBezTo>
                <a:cubicBezTo>
                  <a:pt x="1364582" y="6043434"/>
                  <a:pt x="1476290" y="6068335"/>
                  <a:pt x="1542711" y="6196388"/>
                </a:cubicBezTo>
                <a:cubicBezTo>
                  <a:pt x="1467232" y="6221287"/>
                  <a:pt x="1409868" y="6189274"/>
                  <a:pt x="1352504" y="6167932"/>
                </a:cubicBezTo>
                <a:cubicBezTo>
                  <a:pt x="1264950" y="6132361"/>
                  <a:pt x="1177395" y="6093234"/>
                  <a:pt x="1089840" y="6057663"/>
                </a:cubicBezTo>
                <a:cubicBezTo>
                  <a:pt x="1056628" y="6043434"/>
                  <a:pt x="1020400" y="6036320"/>
                  <a:pt x="999266" y="6100347"/>
                </a:cubicBezTo>
                <a:cubicBezTo>
                  <a:pt x="1110974" y="6114575"/>
                  <a:pt x="1177395" y="6199945"/>
                  <a:pt x="1246836" y="6281757"/>
                </a:cubicBezTo>
                <a:cubicBezTo>
                  <a:pt x="1286084" y="6327999"/>
                  <a:pt x="1319295" y="6388469"/>
                  <a:pt x="1388735" y="6367127"/>
                </a:cubicBezTo>
                <a:cubicBezTo>
                  <a:pt x="1424964" y="6356456"/>
                  <a:pt x="1449118" y="6388469"/>
                  <a:pt x="1446099" y="6431153"/>
                </a:cubicBezTo>
                <a:cubicBezTo>
                  <a:pt x="1431002" y="6580550"/>
                  <a:pt x="1518558" y="6630349"/>
                  <a:pt x="1609132" y="6658805"/>
                </a:cubicBezTo>
                <a:cubicBezTo>
                  <a:pt x="1741974" y="6701489"/>
                  <a:pt x="1859720" y="6786859"/>
                  <a:pt x="1983504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Content Placeholder 4" descr="A person standing in front of a screen&#10;&#10;AI-generated content may be incorrect.">
            <a:extLst>
              <a:ext uri="{FF2B5EF4-FFF2-40B4-BE49-F238E27FC236}">
                <a16:creationId xmlns:a16="http://schemas.microsoft.com/office/drawing/2014/main" id="{0823F020-958A-8481-D084-713B9C5CA9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53660" y="643468"/>
            <a:ext cx="8015922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8067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B04DA-7813-759F-A2C5-6E010F711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Aside: Back to bits research project</a:t>
            </a:r>
          </a:p>
        </p:txBody>
      </p:sp>
      <p:pic>
        <p:nvPicPr>
          <p:cNvPr id="5" name="Content Placeholder 4" descr="A diagram of a computer&#10;&#10;AI-generated content may be incorrect.">
            <a:extLst>
              <a:ext uri="{FF2B5EF4-FFF2-40B4-BE49-F238E27FC236}">
                <a16:creationId xmlns:a16="http://schemas.microsoft.com/office/drawing/2014/main" id="{FABCE279-C0AA-6C9D-68BF-84AD7DF34D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529110"/>
            <a:ext cx="10515600" cy="2944368"/>
          </a:xfrm>
        </p:spPr>
      </p:pic>
    </p:spTree>
    <p:extLst>
      <p:ext uri="{BB962C8B-B14F-4D97-AF65-F5344CB8AC3E}">
        <p14:creationId xmlns:p14="http://schemas.microsoft.com/office/powerpoint/2010/main" val="20100247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4395</TotalTime>
  <Words>430</Words>
  <Application>Microsoft Macintosh PowerPoint</Application>
  <PresentationFormat>Widescreen</PresentationFormat>
  <Paragraphs>65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Wingdings</vt:lpstr>
      <vt:lpstr>Office Theme</vt:lpstr>
      <vt:lpstr>Computer Performance Measurement and Benchmarking</vt:lpstr>
      <vt:lpstr>What is performance?</vt:lpstr>
      <vt:lpstr>Floating-point Operations per Second (flop/s)</vt:lpstr>
      <vt:lpstr>Exascale vs Exaflop</vt:lpstr>
      <vt:lpstr>What even is a flop?</vt:lpstr>
      <vt:lpstr>Ozaki Scheme</vt:lpstr>
      <vt:lpstr>Benchmarks</vt:lpstr>
      <vt:lpstr>Lists (and bragging rights)</vt:lpstr>
      <vt:lpstr>Top500     Green 500</vt:lpstr>
      <vt:lpstr>LLM Tokens as Commodities</vt:lpstr>
      <vt:lpstr>PowerPoint Presentation</vt:lpstr>
      <vt:lpstr>Aside: Back to bits research project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Max Hawkins</dc:creator>
  <cp:lastModifiedBy>Max Hawkins</cp:lastModifiedBy>
  <cp:revision>14</cp:revision>
  <dcterms:created xsi:type="dcterms:W3CDTF">2025-08-26T16:36:50Z</dcterms:created>
  <dcterms:modified xsi:type="dcterms:W3CDTF">2025-08-29T17:52:42Z</dcterms:modified>
</cp:coreProperties>
</file>