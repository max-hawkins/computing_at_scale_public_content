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5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719"/>
  </p:normalViewPr>
  <p:slideViewPr>
    <p:cSldViewPr snapToGrid="0">
      <p:cViewPr varScale="1">
        <p:scale>
          <a:sx n="122" d="100"/>
          <a:sy n="122" d="100"/>
        </p:scale>
        <p:origin x="22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B4757-C2F7-EF40-0D43-4C3610B392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7C91DE-8274-E01D-84C2-E620388AF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6047-31B5-A155-FBCC-649D517F9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2090-0E62-364B-881A-9DA7E6A76DC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EA4DF-8169-91D3-02A1-E4F5A0C7C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28781-45AC-B997-A325-5DD20F74E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E007A-1D30-D443-A817-F2E6F90E1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772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F814C-4D50-DE9F-F2D9-5E29AC95F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BA5A9-D9DE-5BB1-5886-726342A1E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DA9F8-9356-DCD1-924D-983B1F81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2090-0E62-364B-881A-9DA7E6A76DC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E0962-5393-4E34-E832-9958A4FAD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36468-6F81-A1F7-617E-C8CAF4347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E007A-1D30-D443-A817-F2E6F90E1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593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9E843-9C0F-42D5-FF02-388877829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27A96-90CA-F11E-8D1A-11F0911C6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D57AD-B06E-CF77-C613-A325612CB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2090-0E62-364B-881A-9DA7E6A76DC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6F2BD-5AE0-A7B4-1619-1659CE638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16766-C1C3-6671-219C-C9B3188D7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E007A-1D30-D443-A817-F2E6F90E1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587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BA41D-72AD-3B4D-736F-3EE02318A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3F768-B29D-BA81-1FF2-C6FABED583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1C0B8F-73DD-58A2-628D-E8132C168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EF5628-525A-C053-E88A-8A3BFE994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2090-0E62-364B-881A-9DA7E6A76DC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27BC4-5F1A-952C-6BC6-5062FECDA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4C3977-7AB0-3A1B-EE6A-A79926BC6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E007A-1D30-D443-A817-F2E6F90E1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109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E975B-51EA-4799-70A2-5ADB42B4A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F196B4-8B95-DD0A-43D1-5BDDDD539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0D93A-6794-107A-32B6-3F8840BBA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C64AC2-F27B-3E4A-7912-DDDA982F49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B55C10-2C8C-9C61-F653-5BDC2CB8EE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3D7A20-EB06-3752-9013-508A26397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2090-0E62-364B-881A-9DA7E6A76DC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A0F7AF-B756-72F2-35E3-FC3518A96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9B7521-F7F2-D953-B010-F924C31B1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E007A-1D30-D443-A817-F2E6F90E1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238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F223A-E530-3576-EE49-C308A67A4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89F618-93B5-E89B-B4F5-F26A13991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2090-0E62-364B-881A-9DA7E6A76DC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BB806C-A7A7-5133-05D7-2994174EE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1FB3D-7231-2C77-2AF2-B75B2ECE1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E007A-1D30-D443-A817-F2E6F90E1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756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74B6D6-FED7-91FA-6DDB-5DF78F2AE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2090-0E62-364B-881A-9DA7E6A76DC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247CCB-1BE8-EB37-017B-8E312AF4A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B8EC4-EC27-217C-562C-DE756146C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E007A-1D30-D443-A817-F2E6F90E1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291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5324C-74B8-BD04-FE9A-3F3775AEE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38C11-3033-6C5B-FDEE-8730CD70C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05A190-82D5-F501-6862-86AA12125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EA5E86-2F97-8962-6BCA-0DD5F5BEE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2090-0E62-364B-881A-9DA7E6A76DC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F0FFD-484B-A782-3114-1A0DE593A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713FF-668C-360E-5DA8-DB438CCA6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E007A-1D30-D443-A817-F2E6F90E1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442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FCD9A-D30C-11FF-3D7F-13803E564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763914-D549-684E-430A-19284814E5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A13476-0D82-ECE0-F283-FAE476BC9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E1D8A-EDF2-EFBD-0481-C21F7F710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2090-0E62-364B-881A-9DA7E6A76DC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03C91-2828-A70E-E528-6D6D4CEFC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5A5102-1120-5ECC-F84D-917AEFD32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E007A-1D30-D443-A817-F2E6F90E1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304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86079-3E71-8089-4A12-B22972DA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03E2FF-4F2B-DF8F-2CFF-9A88BC6230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CF54B-293B-46C6-ABC9-2C8E8AC8F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2090-0E62-364B-881A-9DA7E6A76DC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A4645-2D46-734B-0BC8-77EA1DD1D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2B2EE-C130-4053-F0EA-7F94123B6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E007A-1D30-D443-A817-F2E6F90E1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8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87466F-97FC-7197-1237-B2B737FFE5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7E5828-5DE0-3A30-1FB7-89EF36B0C0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DE647-7BC1-AEDD-2172-C4A76C5F3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2090-0E62-364B-881A-9DA7E6A76DC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3749B-8D10-157D-6A70-9A8657BE1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13161-9EF1-DB22-1CEA-8AF31CBF6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E007A-1D30-D443-A817-F2E6F90E1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569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6003F2-F7BD-C6CC-A928-67E4B039D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2D22C-92C0-4421-BB11-29BD4EFC7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484EB-8524-5ECD-5058-A813DB5B53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962090-0E62-364B-881A-9DA7E6A76DC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CE6C0-9898-750F-8251-CAA1D0262F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B804E-2D3E-6807-529A-6389E6F64E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5E007A-1D30-D443-A817-F2E6F90E1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10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F27C-CF14-9A19-CD0B-0867BEE0DB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From Computing Performance to Computing Purpose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0E72CF-A66F-C737-734F-7151997D1A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Computing at Scale Module 7</a:t>
            </a:r>
          </a:p>
          <a:p>
            <a:r>
              <a:rPr lang="en-US" dirty="0"/>
              <a:t>Max Hawkins</a:t>
            </a:r>
          </a:p>
        </p:txBody>
      </p:sp>
    </p:spTree>
    <p:extLst>
      <p:ext uri="{BB962C8B-B14F-4D97-AF65-F5344CB8AC3E}">
        <p14:creationId xmlns:p14="http://schemas.microsoft.com/office/powerpoint/2010/main" val="1183584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4DFA8-9F25-358F-A008-9ADDE35C6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E632A-9AD2-88E7-310D-3387A033E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well a task is done/performed</a:t>
            </a:r>
          </a:p>
          <a:p>
            <a:r>
              <a:rPr lang="en-US" dirty="0"/>
              <a:t>Bandwidth, latency, capacity, …</a:t>
            </a:r>
          </a:p>
          <a:p>
            <a:pPr lvl="1"/>
            <a:r>
              <a:rPr lang="en-US" dirty="0"/>
              <a:t>Popular BW metrics: Flop/s, bit/s, tokens/s</a:t>
            </a:r>
          </a:p>
        </p:txBody>
      </p:sp>
    </p:spTree>
    <p:extLst>
      <p:ext uri="{BB962C8B-B14F-4D97-AF65-F5344CB8AC3E}">
        <p14:creationId xmlns:p14="http://schemas.microsoft.com/office/powerpoint/2010/main" val="4128825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24F55-D54B-FF06-AC1B-5A31455F5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Efficiency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8A52A-15DF-9F34-863C-D29B7904F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Preventing the wasteful use of of resources</a:t>
            </a:r>
          </a:p>
          <a:p>
            <a:r>
              <a:rPr lang="en-US" dirty="0"/>
              <a:t>Resources:</a:t>
            </a:r>
          </a:p>
          <a:p>
            <a:pPr lvl="1"/>
            <a:r>
              <a:rPr lang="en-US" dirty="0"/>
              <a:t>Time (see performance)</a:t>
            </a:r>
          </a:p>
          <a:p>
            <a:pPr lvl="1"/>
            <a:r>
              <a:rPr lang="en-US" dirty="0"/>
              <a:t>Energy</a:t>
            </a:r>
          </a:p>
          <a:p>
            <a:pPr lvl="1"/>
            <a:r>
              <a:rPr lang="en-US" dirty="0"/>
              <a:t>Water</a:t>
            </a:r>
          </a:p>
          <a:p>
            <a:pPr lvl="1"/>
            <a:r>
              <a:rPr lang="en-US" dirty="0"/>
              <a:t>Carbon</a:t>
            </a:r>
          </a:p>
          <a:p>
            <a:r>
              <a:rPr lang="en-US" dirty="0"/>
              <a:t>Much ongoing research in this space</a:t>
            </a:r>
          </a:p>
        </p:txBody>
      </p:sp>
    </p:spTree>
    <p:extLst>
      <p:ext uri="{BB962C8B-B14F-4D97-AF65-F5344CB8AC3E}">
        <p14:creationId xmlns:p14="http://schemas.microsoft.com/office/powerpoint/2010/main" val="3402431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2A601-3A08-AC5C-EBCF-87FDCA65E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Jevon’s Paradox and the Rebound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C44E8-9758-9618-EA3F-342FAB999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Increasing efficiency can result in higher resource consumption!</a:t>
            </a:r>
          </a:p>
          <a:p>
            <a:pPr lvl="1"/>
            <a:r>
              <a:rPr lang="en-US" dirty="0"/>
              <a:t>The opposite of the intended effect of efficiency!</a:t>
            </a:r>
          </a:p>
          <a:p>
            <a:r>
              <a:rPr lang="en-US" dirty="0"/>
              <a:t>Lower per-use cost increases overall adoption/use</a:t>
            </a:r>
          </a:p>
          <a:p>
            <a:r>
              <a:rPr lang="en-US" dirty="0"/>
              <a:t>Example: </a:t>
            </a:r>
          </a:p>
          <a:p>
            <a:pPr lvl="1"/>
            <a:r>
              <a:rPr lang="en-US" dirty="0"/>
              <a:t>Modern computing is more performant and energy efficient, yet software and use cases grew rather than stay constant.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539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318CC-9E73-517B-6D05-7FBBA9C25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(Self) Sufficiency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F9187-2F60-C745-47CD-32F10B708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Sufficient: Enough; adequate</a:t>
            </a:r>
          </a:p>
          <a:p>
            <a:pPr lvl="1"/>
            <a:r>
              <a:rPr lang="en-US" dirty="0"/>
              <a:t>How much computing do I actually need?</a:t>
            </a:r>
          </a:p>
          <a:p>
            <a:pPr lvl="1"/>
            <a:r>
              <a:rPr lang="en-US" dirty="0"/>
              <a:t>Example: Can I edit this email draft with a simple spellchecker, or do I need to prompt a large frontier LLM?</a:t>
            </a:r>
          </a:p>
          <a:p>
            <a:r>
              <a:rPr lang="en-US" dirty="0"/>
              <a:t>Self-sufficiency: Needing no outside help</a:t>
            </a:r>
          </a:p>
          <a:p>
            <a:pPr lvl="1"/>
            <a:r>
              <a:rPr lang="en-US" dirty="0"/>
              <a:t>Can I do this myself?</a:t>
            </a:r>
          </a:p>
          <a:p>
            <a:pPr lvl="1"/>
            <a:r>
              <a:rPr lang="en-US" dirty="0"/>
              <a:t>Example: Solar-powered calculators</a:t>
            </a:r>
          </a:p>
        </p:txBody>
      </p:sp>
    </p:spTree>
    <p:extLst>
      <p:ext uri="{BB962C8B-B14F-4D97-AF65-F5344CB8AC3E}">
        <p14:creationId xmlns:p14="http://schemas.microsoft.com/office/powerpoint/2010/main" val="212994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AAB15-55F6-020A-A4D2-4B7C04BC4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Sobriety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D957A-5FE2-F32E-328F-350EA4F38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28283" cy="4351338"/>
          </a:xfrm>
        </p:spPr>
        <p:txBody>
          <a:bodyPr/>
          <a:lstStyle/>
          <a:p>
            <a:r>
              <a:rPr lang="en-US" dirty="0"/>
              <a:t>Critically analyzing our relationship with computing/digital services</a:t>
            </a:r>
          </a:p>
          <a:p>
            <a:r>
              <a:rPr lang="en-US" dirty="0"/>
              <a:t>Consciously considering the effects of our computing use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Why do we upgrade our devices so often? Necessity, marketing, …?</a:t>
            </a:r>
          </a:p>
          <a:p>
            <a:pPr lvl="1"/>
            <a:r>
              <a:rPr lang="en-US" dirty="0"/>
              <a:t>Are we in control of our digital habits?</a:t>
            </a:r>
          </a:p>
        </p:txBody>
      </p:sp>
    </p:spTree>
    <p:extLst>
      <p:ext uri="{BB962C8B-B14F-4D97-AF65-F5344CB8AC3E}">
        <p14:creationId xmlns:p14="http://schemas.microsoft.com/office/powerpoint/2010/main" val="4026324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63FFE-FCAF-407E-08A1-178D9DDC4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What are ‘good’ uses of computing? </a:t>
            </a:r>
            <a:br>
              <a:rPr lang="en-US" dirty="0"/>
            </a:br>
            <a:r>
              <a:rPr lang="en-US" dirty="0"/>
              <a:t>What are your personal values? </a:t>
            </a:r>
            <a:br>
              <a:rPr lang="en-US" dirty="0"/>
            </a:br>
            <a:r>
              <a:rPr lang="en-US" dirty="0"/>
              <a:t>Where do </a:t>
            </a:r>
            <a:r>
              <a:rPr lang="en-US" b="1" dirty="0"/>
              <a:t>you</a:t>
            </a:r>
            <a:r>
              <a:rPr lang="en-US" dirty="0"/>
              <a:t> draw the line?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C58B2-3959-749C-B55A-626AE5132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5641"/>
            <a:ext cx="10515600" cy="400132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Some examples in no particular order:</a:t>
            </a:r>
          </a:p>
          <a:p>
            <a:r>
              <a:rPr lang="en-US" dirty="0"/>
              <a:t>Cryptocurrency</a:t>
            </a:r>
          </a:p>
          <a:p>
            <a:r>
              <a:rPr lang="en-US" dirty="0"/>
              <a:t>Email</a:t>
            </a:r>
          </a:p>
          <a:p>
            <a:r>
              <a:rPr lang="en-US" dirty="0"/>
              <a:t>Autonomous military weapons/drones</a:t>
            </a:r>
          </a:p>
          <a:p>
            <a:r>
              <a:rPr lang="en-US" dirty="0"/>
              <a:t>Video streaming</a:t>
            </a:r>
          </a:p>
          <a:p>
            <a:r>
              <a:rPr lang="en-US" dirty="0"/>
              <a:t>Cancer research</a:t>
            </a:r>
          </a:p>
          <a:p>
            <a:r>
              <a:rPr lang="en-US" dirty="0"/>
              <a:t>LLM chatbots</a:t>
            </a:r>
          </a:p>
          <a:p>
            <a:r>
              <a:rPr lang="en-US" dirty="0"/>
              <a:t>Deliberate false news (video, photos, text,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Coordinated bot campaigns</a:t>
            </a:r>
          </a:p>
          <a:p>
            <a:r>
              <a:rPr lang="en-US" dirty="0"/>
              <a:t>Art generation</a:t>
            </a:r>
          </a:p>
        </p:txBody>
      </p:sp>
    </p:spTree>
    <p:extLst>
      <p:ext uri="{BB962C8B-B14F-4D97-AF65-F5344CB8AC3E}">
        <p14:creationId xmlns:p14="http://schemas.microsoft.com/office/powerpoint/2010/main" val="3597987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CD038-65BC-55BE-6089-576478098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Ethics in Brief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234C0-DEEE-33A8-B64E-D614780B7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75428" cy="4351338"/>
          </a:xfrm>
        </p:spPr>
        <p:txBody>
          <a:bodyPr/>
          <a:lstStyle/>
          <a:p>
            <a:r>
              <a:rPr lang="en-US" dirty="0"/>
              <a:t>What are the broader implications of widespread computing adoption?</a:t>
            </a:r>
          </a:p>
          <a:p>
            <a:r>
              <a:rPr lang="en-US" dirty="0"/>
              <a:t>What does the interplay between society and computing look like?</a:t>
            </a:r>
          </a:p>
          <a:p>
            <a:pPr lvl="1"/>
            <a:r>
              <a:rPr lang="en-US" dirty="0"/>
              <a:t>What do you want it to look like?</a:t>
            </a:r>
          </a:p>
          <a:p>
            <a:r>
              <a:rPr lang="en-US" dirty="0"/>
              <a:t>Implications of AGI</a:t>
            </a:r>
          </a:p>
          <a:p>
            <a:r>
              <a:rPr lang="en-US" dirty="0"/>
              <a:t>What are your thoughts on this quote from one of my favorite books:</a:t>
            </a:r>
          </a:p>
          <a:p>
            <a:pPr lvl="1"/>
            <a:r>
              <a:rPr lang="en-US" dirty="0"/>
              <a:t>“Once men turned their thinking over to machines in the hope that this would set them free. But that only permitted other men with machines to enslave them” – Frank Herbert (Dune)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104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374</Words>
  <Application>Microsoft Macintosh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From Computing Performance to Computing Purpose</vt:lpstr>
      <vt:lpstr>Computing Performance</vt:lpstr>
      <vt:lpstr>Computing Efficiency</vt:lpstr>
      <vt:lpstr>Jevon’s Paradox and the Rebound Effect</vt:lpstr>
      <vt:lpstr>Computing (Self) Sufficiency</vt:lpstr>
      <vt:lpstr>Digital Sobriety</vt:lpstr>
      <vt:lpstr>What are ‘good’ uses of computing?  What are your personal values?  Where do you draw the line?</vt:lpstr>
      <vt:lpstr>Ethics in Brief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 Hawkins</dc:creator>
  <cp:lastModifiedBy>Max Hawkins</cp:lastModifiedBy>
  <cp:revision>30</cp:revision>
  <dcterms:created xsi:type="dcterms:W3CDTF">2025-11-04T16:34:41Z</dcterms:created>
  <dcterms:modified xsi:type="dcterms:W3CDTF">2025-11-04T17:27:48Z</dcterms:modified>
</cp:coreProperties>
</file>